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8616bf5-e6e3-4872-49fd-5dc9fd5c12b4}">
          <p14:sldIdLst>
            <p14:sldId id="256"/>
            <p14:sldId id="257"/>
            <p14:sldId id="258"/>
          </p14:sldIdLst>
        </p14:section>
        <p14:section name="Drone model" id="{5a4fd952-8047-5642-7458-5e0f7f8c95c3}">
          <p14:sldIdLst>
            <p14:sldId id="259"/>
            <p14:sldId id="260"/>
            <p14:sldId id="261"/>
          </p14:sldIdLst>
        </p14:section>
        <p14:section name="Dashboard and outlook" id="{6a4914df-f712-5b42-5674-5ca228200203}">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41C"/>
                </a:solidFill>
                <a:latin typeface="+mn-lt"/>
              </a:defRPr>
            </a:pPr>
            <a:r>
              <a:rPr sz="1400" b="0" i="0" u="none" strike="noStrike">
                <a:solidFill>
                  <a:srgbClr val="16241C"/>
                </a:solidFill>
                <a:latin typeface="+mn-lt"/>
              </a:rPr>
              <a:t>Validation macro-F1 by model</a:t>
            </a:r>
          </a:p>
        </c:rich>
      </c:tx>
      <c:layout/>
      <c:overlay val="0"/>
    </c:title>
    <c:autoTitleDeleted val="0"/>
    <c:plotArea>
      <c:layout/>
      <c:barChart>
        <c:barDir val="bar"/>
        <c:grouping val="clustered"/>
        <c:varyColors val="0"/>
        <c:ser>
          <c:idx val="0"/>
          <c:order val="0"/>
          <c:tx>
            <c:strRef>
              <c:f>Sheet1!$B$1</c:f>
              <c:strCache>
                <c:ptCount val="1"/>
                <c:pt idx="0">
                  <c:v>Validation macro-F1</c:v>
                </c:pt>
              </c:strCache>
            </c:strRef>
          </c:tx>
          <c:spPr>
            <a:solidFill>
              <a:srgbClr val="1F6B4A"/>
            </a:solidFill>
            <a:effectLst/>
          </c:spPr>
          <c:invertIfNegative val="0"/>
          <c:dLbls>
            <c:numFmt formatCode="0.000" sourceLinked="0"/>
            <c:txPr>
              <a:bodyPr/>
              <a:lstStyle/>
              <a:p>
                <a:pPr>
                  <a:defRPr b="0" i="0" strike="noStrike" sz="1200" u="none">
                    <a:solidFill>
                      <a:srgbClr val="16241C"/>
                    </a:solidFill>
                    <a:latin typeface="+mn-lt"/>
                  </a:defRPr>
                </a:pPr>
              </a:p>
            </c:txPr>
            <c:showLegendKey val="0"/>
            <c:showVal val="1"/>
            <c:showCatName val="0"/>
            <c:showSerName val="0"/>
            <c:showPercent val="0"/>
            <c:showBubbleSize val="0"/>
            <c:showLeaderLines val="0"/>
          </c:dLbls>
          <c:dPt>
            <c:idx val="0"/>
            <c:invertIfNegative val="0"/>
            <c:bubble3D val="0"/>
            <c:spPr>
              <a:solidFill>
                <a:srgbClr val="1F6B4A"/>
              </a:solidFill>
              <a:effectLst/>
            </c:spPr>
          </c:dPt>
          <c:dPt>
            <c:idx val="1"/>
            <c:invertIfNegative val="0"/>
            <c:bubble3D val="0"/>
            <c:spPr>
              <a:solidFill>
                <a:srgbClr val="1F6B4A"/>
              </a:solidFill>
              <a:effectLst/>
            </c:spPr>
          </c:dPt>
          <c:dPt>
            <c:idx val="2"/>
            <c:invertIfNegative val="0"/>
            <c:bubble3D val="0"/>
            <c:spPr>
              <a:solidFill>
                <a:srgbClr val="1F6B4A"/>
              </a:solidFill>
              <a:effectLst/>
            </c:spPr>
          </c:dPt>
          <c:dPt>
            <c:idx val="3"/>
            <c:invertIfNegative val="0"/>
            <c:bubble3D val="0"/>
            <c:spPr>
              <a:solidFill>
                <a:srgbClr val="7FB069"/>
              </a:solidFill>
              <a:effectLst/>
            </c:spPr>
          </c:dPt>
          <c:dPt>
            <c:idx val="4"/>
            <c:invertIfNegative val="0"/>
            <c:bubble3D val="0"/>
            <c:spPr>
              <a:solidFill>
                <a:srgbClr val="7FB069"/>
              </a:solidFill>
              <a:effectLst/>
            </c:spPr>
          </c:dPt>
          <c:cat>
            <c:multiLvlStrRef>
              <c:f>Sheet1!$A$2:$A$6</c:f>
              <c:multiLvlStrCache>
                <c:ptCount val="5"/>
                <c:lvl>
                  <c:pt idx="0">
                    <c:v>LogisticRegression</c:v>
                  </c:pt>
                  <c:pt idx="1">
                    <c:v>HistGradientBoosting</c:v>
                  </c:pt>
                  <c:pt idx="2">
                    <c:v>RandomForest</c:v>
                  </c:pt>
                  <c:pt idx="3">
                    <c:v>ExtraTrees</c:v>
                  </c:pt>
                  <c:pt idx="4">
                    <c:v>SVM-RBF</c:v>
                  </c:pt>
                </c:lvl>
              </c:multiLvlStrCache>
            </c:multiLvlStrRef>
          </c:cat>
          <c:val>
            <c:numRef>
              <c:f>Sheet1!$B$2:$B$6</c:f>
              <c:numCache>
                <c:formatCode>General</c:formatCode>
                <c:ptCount val="5"/>
                <c:pt idx="0">
                  <c:v>0.978</c:v>
                </c:pt>
                <c:pt idx="1">
                  <c:v>0.978</c:v>
                </c:pt>
                <c:pt idx="2">
                  <c:v>0.978</c:v>
                </c:pt>
                <c:pt idx="3">
                  <c:v>0.97</c:v>
                </c:pt>
                <c:pt idx="4">
                  <c:v>0.963</c:v>
                </c:pt>
              </c:numCache>
            </c:numRef>
          </c:val>
        </c:ser>
        <c:dLbls>
          <c:numFmt formatCode="0.000" sourceLinked="0"/>
          <c:txPr>
            <a:bodyPr/>
            <a:lstStyle/>
            <a:p>
              <a:pPr>
                <a:defRPr b="0" i="0" strike="noStrike" sz="1200" u="none">
                  <a:solidFill>
                    <a:srgbClr val="16241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6241C"/>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GridAI predicts where vegetation threatens transmission lines. This project upgrade adds drone imagery as a second source of evidence, alongside the original tabular model. The picture is a synthetic tile produced by the project's own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beats: the real-world problem, what the project already did, and what this upgrade adds. The tabular model alone only knows numbers about each span; drone images give a direct view of the canopy near the conductor.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evidence streams. The CSV metrics feed the original Random Forest. Drone images go through the image model that train_drone_model.py selected. The fusion step blends both into one risk score per line, and every dashboard view reads that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drone model classifies a corridor-aligned tile into clear, near or encroaching, based on the gap between the nearest canopy and the conductor. Each class carries a severity weight that becomes the image risk. These tiles are generated, not real photographs, so they demonstrate the pipeline rather than real-world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train_drone_model.py trains five classical models on hand-built image features, ranks them by validation macro-F1, then scores only the winner on a held-out test split. With the --cnn flag it also fine-tunes three CNNs. The top three classical models are statistically indistinguishable on this synthetic data, and the scores say nothing about real-world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uploaded image becomes an image-risk number between 0 and 1. For lines with an image, the final score blends tabular and image risk using the slider weight. We found in testing that a confident encroachment sighting on a line with a low tabular score was being averaged below the alert threshold, so we added a floor: image risk of 0.8 or above is never reduced by the blend. Lines without images keep their original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three tabs now use the fused risk score, and a fourth tab handles the drone images. Files named with a line ID, for example LN-1004_span.jpg, are matched to that line automatically. If several images match one line, the highest-risk one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the limits. The pipeline runs, but the accuracy figure comes from synthetic tiles and the dashboard UI itself was not launched in the build environment. The most valuable next step is real labelled drone imagery of the actual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23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2560320"/>
            <a:ext cx="4572000" cy="13716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23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188720"/>
          </a:xfrm>
          <a:prstGeom prst="rect">
            <a:avLst/>
          </a:prstGeom>
          <a:noFill/>
          <a:ln/>
        </p:spPr>
        <p:txBody>
          <a:bodyPr wrap="square" lIns="0" tIns="0" rIns="0" bIns="0" rtlCol="0" anchor="ctr"/>
          <a:lstStyle/>
          <a:p>
            <a:pPr algn="l" indent="0" marL="0">
              <a:buNone/>
            </a:pPr>
            <a:r>
              <a:rPr lang="en-US" sz="6000" b="1" dirty="0">
                <a:solidFill>
                  <a:schemeClr val="bg1"/>
                </a:solidFill>
              </a:rPr>
              <a:t>GridAI</a:t>
            </a:r>
            <a:endParaRPr lang="en-US" sz="6000" dirty="0"/>
          </a:p>
        </p:txBody>
      </p:sp>
      <p:sp>
        <p:nvSpPr>
          <p:cNvPr id="3" name="Text 0"/>
          <p:cNvSpPr/>
          <p:nvPr>
            <p:ph idx="101" type="body" hasCustomPrompt="1"/>
          </p:nvPr>
        </p:nvSpPr>
        <p:spPr>
          <a:xfrm>
            <a:off x="548640" y="2560320"/>
            <a:ext cx="4572000" cy="1371600"/>
          </a:xfrm>
          <a:prstGeom prst="rect">
            <a:avLst/>
          </a:prstGeom>
          <a:noFill/>
          <a:ln/>
        </p:spPr>
        <p:txBody>
          <a:bodyPr wrap="square" lIns="0" tIns="0" rIns="0" bIns="0" rtlCol="0" anchor="t"/>
          <a:lstStyle/>
          <a:p>
            <a:pPr algn="l" indent="0" marL="0">
              <a:buNone/>
            </a:pPr>
            <a:r>
              <a:rPr lang="en-US" sz="2000" dirty="0">
                <a:solidFill>
                  <a:schemeClr val="bg2"/>
                </a:solidFill>
              </a:rPr>
              <a:t>Drone-enhanced vegetation encroachment detection for power transmission lines</a:t>
            </a:r>
            <a:endParaRPr lang="en-US" sz="2000" dirty="0"/>
          </a:p>
        </p:txBody>
      </p:sp>
      <p:sp>
        <p:nvSpPr>
          <p:cNvPr id="4" name="Text 2"/>
          <p:cNvSpPr txBox="1"/>
          <p:nvPr/>
        </p:nvSpPr>
        <p:spPr>
          <a:xfrm>
            <a:off x="548640" y="4251960"/>
            <a:ext cx="45720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PROJECT WALKTHROUGH</a:t>
            </a:r>
            <a:endParaRPr lang="en-US" sz="1200" dirty="0"/>
          </a:p>
        </p:txBody>
      </p:sp>
      <p:pic>
        <p:nvPicPr>
          <p:cNvPr id="5" name="Hero tile" descr="Synthetic top-down drone tile showing tree canopy touching a power line">    </p:cNvPr>
          <p:cNvPicPr>
            <a:picLocks noChangeAspect="1"/>
          </p:cNvPicPr>
          <p:nvPr/>
        </p:nvPicPr>
        <p:blipFill>
          <a:blip r:embed="rId1"/>
          <a:stretch>
            <a:fillRect/>
          </a:stretch>
        </p:blipFill>
        <p:spPr>
          <a:xfrm>
            <a:off x="5486400" y="822960"/>
            <a:ext cx="3200400" cy="3200400"/>
          </a:xfrm>
          <a:prstGeom prst="rect">
            <a:avLst/>
          </a:prstGeom>
        </p:spPr>
      </p:pic>
      <p:sp>
        <p:nvSpPr>
          <p:cNvPr id="6" name="Text 3"/>
          <p:cNvSpPr txBox="1"/>
          <p:nvPr/>
        </p:nvSpPr>
        <p:spPr>
          <a:xfrm>
            <a:off x="5486400" y="4114800"/>
            <a:ext cx="3200400" cy="274320"/>
          </a:xfrm>
          <a:prstGeom prst="rect">
            <a:avLst/>
          </a:prstGeom>
          <a:noFill/>
          <a:ln/>
        </p:spPr>
        <p:txBody>
          <a:bodyPr wrap="square" lIns="0" tIns="0" rIns="0" bIns="0" rtlCol="0" anchor="t"/>
          <a:lstStyle/>
          <a:p>
            <a:pPr algn="l" indent="0" marL="0">
              <a:buNone/>
            </a:pPr>
            <a:r>
              <a:rPr lang="en-US" sz="1100" dirty="0">
                <a:solidFill>
                  <a:schemeClr val="bg2"/>
                </a:solidFill>
              </a:rPr>
              <a:t>Synthetic drone tile: canopy touching the conductor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What we set out to do</a:t>
            </a:r>
            <a:endParaRPr lang="en-US" sz="3400" dirty="0"/>
          </a:p>
        </p:txBody>
      </p:sp>
      <p:sp>
        <p:nvSpPr>
          <p:cNvPr id="3" name="Card 1"/>
          <p:cNvSpPr/>
          <p:nvPr/>
        </p:nvSpPr>
        <p:spPr>
          <a:xfrm>
            <a:off x="457200" y="1371600"/>
            <a:ext cx="2560320" cy="3108960"/>
          </a:xfrm>
          <a:prstGeom prst="roundRect">
            <a:avLst>
              <a:gd name="adj" fmla="val 4286"/>
            </a:avLst>
          </a:prstGeom>
          <a:solidFill>
            <a:schemeClr val="bg2"/>
          </a:solidFill>
          <a:ln w="12700">
            <a:solidFill>
              <a:schemeClr val="bg2"/>
            </a:solidFill>
            <a:prstDash val="solid"/>
          </a:ln>
        </p:spPr>
      </p:sp>
      <p:sp>
        <p:nvSpPr>
          <p:cNvPr id="4" name="Card 1 circle"/>
          <p:cNvSpPr/>
          <p:nvPr/>
        </p:nvSpPr>
        <p:spPr>
          <a:xfrm>
            <a:off x="685800" y="1600200"/>
            <a:ext cx="640080" cy="640080"/>
          </a:xfrm>
          <a:prstGeom prst="ellipse">
            <a:avLst/>
          </a:prstGeom>
          <a:solidFill>
            <a:srgbClr val="C8553D"/>
          </a:solidFill>
          <a:ln w="12700">
            <a:solidFill>
              <a:srgbClr val="C8553D"/>
            </a:solidFill>
            <a:prstDash val="solid"/>
          </a:ln>
        </p:spPr>
      </p:sp>
      <p:pic>
        <p:nvPicPr>
          <p:cNvPr id="5" name="Card 1 icon" descr="Card 1">    </p:cNvPr>
          <p:cNvPicPr>
            <a:picLocks noChangeAspect="1"/>
          </p:cNvPicPr>
          <p:nvPr/>
        </p:nvPicPr>
        <p:blipFill>
          <a:blip r:embed="rId1"/>
          <a:stretch>
            <a:fillRect/>
          </a:stretch>
        </p:blipFill>
        <p:spPr>
          <a:xfrm>
            <a:off x="845820" y="1760220"/>
            <a:ext cx="320040" cy="320040"/>
          </a:xfrm>
          <a:prstGeom prst="rect">
            <a:avLst/>
          </a:prstGeom>
        </p:spPr>
      </p:pic>
      <p:sp>
        <p:nvSpPr>
          <p:cNvPr id="6" name="Text 3"/>
          <p:cNvSpPr txBox="1"/>
          <p:nvPr/>
        </p:nvSpPr>
        <p:spPr>
          <a:xfrm>
            <a:off x="685800" y="2423160"/>
            <a:ext cx="2103120" cy="365760"/>
          </a:xfrm>
          <a:prstGeom prst="rect">
            <a:avLst/>
          </a:prstGeom>
          <a:noFill/>
          <a:ln/>
        </p:spPr>
        <p:txBody>
          <a:bodyPr wrap="square" lIns="0" tIns="0" rIns="0" bIns="0" rtlCol="0" anchor="t"/>
          <a:lstStyle/>
          <a:p>
            <a:pPr algn="l" indent="0" marL="0">
              <a:buNone/>
            </a:pPr>
            <a:r>
              <a:rPr lang="en-US" sz="2000" b="1" dirty="0">
                <a:solidFill>
                  <a:schemeClr val="tx2"/>
                </a:solidFill>
              </a:rPr>
              <a:t>The problem</a:t>
            </a:r>
            <a:endParaRPr lang="en-US" sz="2000" dirty="0"/>
          </a:p>
        </p:txBody>
      </p:sp>
      <p:sp>
        <p:nvSpPr>
          <p:cNvPr id="7" name="Text 4"/>
          <p:cNvSpPr txBox="1"/>
          <p:nvPr/>
        </p:nvSpPr>
        <p:spPr>
          <a:xfrm>
            <a:off x="685800" y="2880360"/>
            <a:ext cx="2103120" cy="1463040"/>
          </a:xfrm>
          <a:prstGeom prst="rect">
            <a:avLst/>
          </a:prstGeom>
          <a:noFill/>
          <a:ln/>
        </p:spPr>
        <p:txBody>
          <a:bodyPr wrap="square" lIns="0" tIns="0" rIns="0" bIns="0" rtlCol="0" anchor="t"/>
          <a:lstStyle/>
          <a:p>
            <a:pPr algn="l" indent="0" marL="0">
              <a:buNone/>
            </a:pPr>
            <a:r>
              <a:rPr lang="en-US" sz="1400" dirty="0">
                <a:solidFill>
                  <a:schemeClr val="tx1"/>
                </a:solidFill>
              </a:rPr>
              <a:t>Trees growing into transmission corridors cause outages and fire risk. Crews need to know which spans to trim first.</a:t>
            </a:r>
            <a:endParaRPr lang="en-US" sz="1400" dirty="0"/>
          </a:p>
        </p:txBody>
      </p:sp>
      <p:sp>
        <p:nvSpPr>
          <p:cNvPr id="8" name="Card 2"/>
          <p:cNvSpPr/>
          <p:nvPr/>
        </p:nvSpPr>
        <p:spPr>
          <a:xfrm>
            <a:off x="3291840" y="1371600"/>
            <a:ext cx="2560320" cy="3108960"/>
          </a:xfrm>
          <a:prstGeom prst="roundRect">
            <a:avLst>
              <a:gd name="adj" fmla="val 4286"/>
            </a:avLst>
          </a:prstGeom>
          <a:solidFill>
            <a:schemeClr val="bg2"/>
          </a:solidFill>
          <a:ln w="12700">
            <a:solidFill>
              <a:schemeClr val="bg2"/>
            </a:solidFill>
            <a:prstDash val="solid"/>
          </a:ln>
        </p:spPr>
      </p:sp>
      <p:sp>
        <p:nvSpPr>
          <p:cNvPr id="9" name="Card 2 circle"/>
          <p:cNvSpPr/>
          <p:nvPr/>
        </p:nvSpPr>
        <p:spPr>
          <a:xfrm>
            <a:off x="3520440" y="1600200"/>
            <a:ext cx="640080" cy="640080"/>
          </a:xfrm>
          <a:prstGeom prst="ellipse">
            <a:avLst/>
          </a:prstGeom>
          <a:solidFill>
            <a:srgbClr val="1F6B4A"/>
          </a:solidFill>
          <a:ln w="12700">
            <a:solidFill>
              <a:srgbClr val="1F6B4A"/>
            </a:solidFill>
            <a:prstDash val="solid"/>
          </a:ln>
        </p:spPr>
      </p:sp>
      <p:pic>
        <p:nvPicPr>
          <p:cNvPr id="10" name="Card 2 icon" descr="Card 2">    </p:cNvPr>
          <p:cNvPicPr>
            <a:picLocks noChangeAspect="1"/>
          </p:cNvPicPr>
          <p:nvPr/>
        </p:nvPicPr>
        <p:blipFill>
          <a:blip r:embed="rId2"/>
          <a:stretch>
            <a:fillRect/>
          </a:stretch>
        </p:blipFill>
        <p:spPr>
          <a:xfrm>
            <a:off x="3680460" y="1760220"/>
            <a:ext cx="320040" cy="320040"/>
          </a:xfrm>
          <a:prstGeom prst="rect">
            <a:avLst/>
          </a:prstGeom>
        </p:spPr>
      </p:pic>
      <p:sp>
        <p:nvSpPr>
          <p:cNvPr id="11" name="Text 7"/>
          <p:cNvSpPr txBox="1"/>
          <p:nvPr/>
        </p:nvSpPr>
        <p:spPr>
          <a:xfrm>
            <a:off x="3520440" y="2423160"/>
            <a:ext cx="2103120" cy="365760"/>
          </a:xfrm>
          <a:prstGeom prst="rect">
            <a:avLst/>
          </a:prstGeom>
          <a:noFill/>
          <a:ln/>
        </p:spPr>
        <p:txBody>
          <a:bodyPr wrap="square" lIns="0" tIns="0" rIns="0" bIns="0" rtlCol="0" anchor="t"/>
          <a:lstStyle/>
          <a:p>
            <a:pPr algn="l" indent="0" marL="0">
              <a:buNone/>
            </a:pPr>
            <a:r>
              <a:rPr lang="en-US" sz="2000" b="1" dirty="0">
                <a:solidFill>
                  <a:schemeClr val="tx2"/>
                </a:solidFill>
              </a:rPr>
              <a:t>Starting point</a:t>
            </a:r>
            <a:endParaRPr lang="en-US" sz="2000" dirty="0"/>
          </a:p>
        </p:txBody>
      </p:sp>
      <p:sp>
        <p:nvSpPr>
          <p:cNvPr id="12" name="Text 8"/>
          <p:cNvSpPr txBox="1"/>
          <p:nvPr/>
        </p:nvSpPr>
        <p:spPr>
          <a:xfrm>
            <a:off x="3520440" y="2880360"/>
            <a:ext cx="2103120" cy="1463040"/>
          </a:xfrm>
          <a:prstGeom prst="rect">
            <a:avLst/>
          </a:prstGeom>
          <a:noFill/>
          <a:ln/>
        </p:spPr>
        <p:txBody>
          <a:bodyPr wrap="square" lIns="0" tIns="0" rIns="0" bIns="0" rtlCol="0" anchor="t"/>
          <a:lstStyle/>
          <a:p>
            <a:pPr algn="l" indent="0" marL="0">
              <a:buNone/>
            </a:pPr>
            <a:r>
              <a:rPr lang="en-US" sz="1400" dirty="0">
                <a:solidFill>
                  <a:schemeClr val="tx1"/>
                </a:solidFill>
              </a:rPr>
              <a:t>A Streamlit dashboard scored 100 line spans from tabular vegetation metrics with a Random Forest, then simulated storm isolation.</a:t>
            </a:r>
            <a:endParaRPr lang="en-US" sz="1400" dirty="0"/>
          </a:p>
        </p:txBody>
      </p:sp>
      <p:sp>
        <p:nvSpPr>
          <p:cNvPr id="13" name="Card 3"/>
          <p:cNvSpPr/>
          <p:nvPr/>
        </p:nvSpPr>
        <p:spPr>
          <a:xfrm>
            <a:off x="6126480" y="1371600"/>
            <a:ext cx="2560320" cy="3108960"/>
          </a:xfrm>
          <a:prstGeom prst="roundRect">
            <a:avLst>
              <a:gd name="adj" fmla="val 4286"/>
            </a:avLst>
          </a:prstGeom>
          <a:solidFill>
            <a:schemeClr val="bg2"/>
          </a:solidFill>
          <a:ln w="12700">
            <a:solidFill>
              <a:schemeClr val="bg2"/>
            </a:solidFill>
            <a:prstDash val="solid"/>
          </a:ln>
        </p:spPr>
      </p:sp>
      <p:sp>
        <p:nvSpPr>
          <p:cNvPr id="14" name="Card 3 circle"/>
          <p:cNvSpPr/>
          <p:nvPr/>
        </p:nvSpPr>
        <p:spPr>
          <a:xfrm>
            <a:off x="6355080" y="1600200"/>
            <a:ext cx="640080" cy="640080"/>
          </a:xfrm>
          <a:prstGeom prst="ellipse">
            <a:avLst/>
          </a:prstGeom>
          <a:solidFill>
            <a:srgbClr val="3E7CB1"/>
          </a:solidFill>
          <a:ln w="12700">
            <a:solidFill>
              <a:srgbClr val="3E7CB1"/>
            </a:solidFill>
            <a:prstDash val="solid"/>
          </a:ln>
        </p:spPr>
      </p:sp>
      <p:pic>
        <p:nvPicPr>
          <p:cNvPr id="15" name="Card 3 icon" descr="Card 3">    </p:cNvPr>
          <p:cNvPicPr>
            <a:picLocks noChangeAspect="1"/>
          </p:cNvPicPr>
          <p:nvPr/>
        </p:nvPicPr>
        <p:blipFill>
          <a:blip r:embed="rId3"/>
          <a:stretch>
            <a:fillRect/>
          </a:stretch>
        </p:blipFill>
        <p:spPr>
          <a:xfrm>
            <a:off x="6515100" y="1760220"/>
            <a:ext cx="320040" cy="320040"/>
          </a:xfrm>
          <a:prstGeom prst="rect">
            <a:avLst/>
          </a:prstGeom>
        </p:spPr>
      </p:pic>
      <p:sp>
        <p:nvSpPr>
          <p:cNvPr id="16" name="Text 11"/>
          <p:cNvSpPr txBox="1"/>
          <p:nvPr/>
        </p:nvSpPr>
        <p:spPr>
          <a:xfrm>
            <a:off x="6355080" y="2423160"/>
            <a:ext cx="2103120" cy="365760"/>
          </a:xfrm>
          <a:prstGeom prst="rect">
            <a:avLst/>
          </a:prstGeom>
          <a:noFill/>
          <a:ln/>
        </p:spPr>
        <p:txBody>
          <a:bodyPr wrap="square" lIns="0" tIns="0" rIns="0" bIns="0" rtlCol="0" anchor="t"/>
          <a:lstStyle/>
          <a:p>
            <a:pPr algn="l" indent="0" marL="0">
              <a:buNone/>
            </a:pPr>
            <a:r>
              <a:rPr lang="en-US" sz="2000" b="1" dirty="0">
                <a:solidFill>
                  <a:schemeClr val="tx2"/>
                </a:solidFill>
              </a:rPr>
              <a:t>This upgrade</a:t>
            </a:r>
            <a:endParaRPr lang="en-US" sz="2000" dirty="0"/>
          </a:p>
        </p:txBody>
      </p:sp>
      <p:sp>
        <p:nvSpPr>
          <p:cNvPr id="17" name="Text 12"/>
          <p:cNvSpPr txBox="1"/>
          <p:nvPr/>
        </p:nvSpPr>
        <p:spPr>
          <a:xfrm>
            <a:off x="6355080" y="2880360"/>
            <a:ext cx="2103120" cy="1463040"/>
          </a:xfrm>
          <a:prstGeom prst="rect">
            <a:avLst/>
          </a:prstGeom>
          <a:noFill/>
          <a:ln/>
        </p:spPr>
        <p:txBody>
          <a:bodyPr wrap="square" lIns="0" tIns="0" rIns="0" bIns="0" rtlCol="0" anchor="t"/>
          <a:lstStyle/>
          <a:p>
            <a:pPr algn="l" indent="0" marL="0">
              <a:buNone/>
            </a:pPr>
            <a:r>
              <a:rPr lang="en-US" sz="1400" dirty="0">
                <a:solidFill>
                  <a:schemeClr val="tx1"/>
                </a:solidFill>
              </a:rPr>
              <a:t>Drone images are classified by the best of several trained models, and the result is blended into each line's risk score.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How the pieces fit together</a:t>
            </a:r>
            <a:endParaRPr lang="en-US" sz="3400" dirty="0"/>
          </a:p>
        </p:txBody>
      </p:sp>
      <p:sp>
        <p:nvSpPr>
          <p:cNvPr id="3" name="Input CSVs"/>
          <p:cNvSpPr/>
          <p:nvPr/>
        </p:nvSpPr>
        <p:spPr>
          <a:xfrm>
            <a:off x="457200" y="1371600"/>
            <a:ext cx="1828800" cy="1234440"/>
          </a:xfrm>
          <a:prstGeom prst="roundRect">
            <a:avLst>
              <a:gd name="adj" fmla="val 7407"/>
            </a:avLst>
          </a:prstGeom>
          <a:solidFill>
            <a:schemeClr val="bg2"/>
          </a:solidFill>
          <a:ln w="12700">
            <a:solidFill>
              <a:schemeClr val="bg2"/>
            </a:solidFill>
            <a:prstDash val="solid"/>
          </a:ln>
        </p:spPr>
      </p:sp>
      <p:sp>
        <p:nvSpPr>
          <p:cNvPr id="4" name="Text 2"/>
          <p:cNvSpPr txBox="1"/>
          <p:nvPr/>
        </p:nvSpPr>
        <p:spPr>
          <a:xfrm>
            <a:off x="566928" y="1371600"/>
            <a:ext cx="1609344" cy="1234440"/>
          </a:xfrm>
          <a:prstGeom prst="rect">
            <a:avLst/>
          </a:prstGeom>
          <a:noFill/>
          <a:ln/>
        </p:spPr>
        <p:txBody>
          <a:bodyPr wrap="square" lIns="0" tIns="0" rIns="0" bIns="0" rtlCol="0" anchor="ctr"/>
          <a:lstStyle/>
          <a:p>
            <a:pPr algn="l" indent="0" marL="0">
              <a:buNone/>
            </a:pPr>
            <a:r>
              <a:rPr lang="en-US" sz="1500" b="1" dirty="0">
                <a:solidFill>
                  <a:schemeClr val="tx1"/>
                </a:solidFill>
              </a:rPr>
              <a:t>Utility CSVs</a:t>
            </a:r>
            <a:endParaRPr lang="en-US" sz="1400" dirty="0"/>
          </a:p>
          <a:p>
            <a:pPr algn="l" indent="0" marL="0">
              <a:buNone/>
            </a:pPr>
            <a:r>
              <a:rPr lang="en-US" sz="1200" dirty="0">
                <a:solidFill>
                  <a:schemeClr val="tx1"/>
                </a:solidFill>
              </a:rPr>
              <a:t>lines, vegetation metrics, substations</a:t>
            </a:r>
            <a:endParaRPr lang="en-US" sz="1400" dirty="0"/>
          </a:p>
        </p:txBody>
      </p:sp>
      <p:sp>
        <p:nvSpPr>
          <p:cNvPr id="5" name="Input drone"/>
          <p:cNvSpPr/>
          <p:nvPr/>
        </p:nvSpPr>
        <p:spPr>
          <a:xfrm>
            <a:off x="457200" y="3063240"/>
            <a:ext cx="1828800" cy="1234440"/>
          </a:xfrm>
          <a:prstGeom prst="roundRect">
            <a:avLst>
              <a:gd name="adj" fmla="val 7407"/>
            </a:avLst>
          </a:prstGeom>
          <a:solidFill>
            <a:schemeClr val="bg2"/>
          </a:solidFill>
          <a:ln w="12700">
            <a:solidFill>
              <a:schemeClr val="bg2"/>
            </a:solidFill>
            <a:prstDash val="solid"/>
          </a:ln>
        </p:spPr>
      </p:sp>
      <p:sp>
        <p:nvSpPr>
          <p:cNvPr id="6" name="Text 4"/>
          <p:cNvSpPr txBox="1"/>
          <p:nvPr/>
        </p:nvSpPr>
        <p:spPr>
          <a:xfrm>
            <a:off x="566928" y="3063240"/>
            <a:ext cx="1609344" cy="1234440"/>
          </a:xfrm>
          <a:prstGeom prst="rect">
            <a:avLst/>
          </a:prstGeom>
          <a:noFill/>
          <a:ln/>
        </p:spPr>
        <p:txBody>
          <a:bodyPr wrap="square" lIns="0" tIns="0" rIns="0" bIns="0" rtlCol="0" anchor="ctr"/>
          <a:lstStyle/>
          <a:p>
            <a:pPr algn="l" indent="0" marL="0">
              <a:buNone/>
            </a:pPr>
            <a:r>
              <a:rPr lang="en-US" sz="1500" b="1" dirty="0">
                <a:solidFill>
                  <a:schemeClr val="tx1"/>
                </a:solidFill>
              </a:rPr>
              <a:t>Drone images</a:t>
            </a:r>
            <a:endParaRPr lang="en-US" sz="1400" dirty="0"/>
          </a:p>
          <a:p>
            <a:pPr algn="l" indent="0" marL="0">
              <a:buNone/>
            </a:pPr>
            <a:r>
              <a:rPr lang="en-US" sz="1200" dirty="0">
                <a:solidFill>
                  <a:schemeClr val="tx1"/>
                </a:solidFill>
              </a:rPr>
              <a:t>uploaded, or demo samples</a:t>
            </a:r>
            <a:endParaRPr lang="en-US" sz="1400" dirty="0"/>
          </a:p>
        </p:txBody>
      </p:sp>
      <p:sp>
        <p:nvSpPr>
          <p:cNvPr id="7" name="Model tabular"/>
          <p:cNvSpPr/>
          <p:nvPr/>
        </p:nvSpPr>
        <p:spPr>
          <a:xfrm>
            <a:off x="2788920" y="1371600"/>
            <a:ext cx="1828800" cy="1234440"/>
          </a:xfrm>
          <a:prstGeom prst="roundRect">
            <a:avLst>
              <a:gd name="adj" fmla="val 7407"/>
            </a:avLst>
          </a:prstGeom>
          <a:solidFill>
            <a:schemeClr val="accent1"/>
          </a:solidFill>
          <a:ln w="12700">
            <a:solidFill>
              <a:schemeClr val="accent1"/>
            </a:solidFill>
            <a:prstDash val="solid"/>
          </a:ln>
        </p:spPr>
      </p:sp>
      <p:sp>
        <p:nvSpPr>
          <p:cNvPr id="8" name="Text 6"/>
          <p:cNvSpPr txBox="1"/>
          <p:nvPr/>
        </p:nvSpPr>
        <p:spPr>
          <a:xfrm>
            <a:off x="2898648" y="1371600"/>
            <a:ext cx="1609344" cy="1234440"/>
          </a:xfrm>
          <a:prstGeom prst="rect">
            <a:avLst/>
          </a:prstGeom>
          <a:noFill/>
          <a:ln/>
        </p:spPr>
        <p:txBody>
          <a:bodyPr wrap="square" lIns="0" tIns="0" rIns="0" bIns="0" rtlCol="0" anchor="ctr"/>
          <a:lstStyle/>
          <a:p>
            <a:pPr algn="l" indent="0" marL="0">
              <a:buNone/>
            </a:pPr>
            <a:r>
              <a:rPr lang="en-US" sz="1500" b="1" dirty="0">
                <a:solidFill>
                  <a:schemeClr val="bg1"/>
                </a:solidFill>
              </a:rPr>
              <a:t>Tabular model</a:t>
            </a:r>
            <a:endParaRPr lang="en-US" sz="1400" dirty="0"/>
          </a:p>
          <a:p>
            <a:pPr algn="l" indent="0" marL="0">
              <a:buNone/>
            </a:pPr>
            <a:r>
              <a:rPr lang="en-US" sz="1200" dirty="0">
                <a:solidFill>
                  <a:schemeClr val="bg1"/>
                </a:solidFill>
              </a:rPr>
              <a:t>Random Forest on distance, height, growth, moisture, voltage</a:t>
            </a:r>
            <a:endParaRPr lang="en-US" sz="1400" dirty="0"/>
          </a:p>
        </p:txBody>
      </p:sp>
      <p:sp>
        <p:nvSpPr>
          <p:cNvPr id="9" name="Model drone"/>
          <p:cNvSpPr/>
          <p:nvPr/>
        </p:nvSpPr>
        <p:spPr>
          <a:xfrm>
            <a:off x="2788920" y="3063240"/>
            <a:ext cx="1828800" cy="1234440"/>
          </a:xfrm>
          <a:prstGeom prst="roundRect">
            <a:avLst>
              <a:gd name="adj" fmla="val 7407"/>
            </a:avLst>
          </a:prstGeom>
          <a:solidFill>
            <a:schemeClr val="accent1"/>
          </a:solidFill>
          <a:ln w="12700">
            <a:solidFill>
              <a:schemeClr val="accent1"/>
            </a:solidFill>
            <a:prstDash val="solid"/>
          </a:ln>
        </p:spPr>
      </p:sp>
      <p:sp>
        <p:nvSpPr>
          <p:cNvPr id="10" name="Text 8"/>
          <p:cNvSpPr txBox="1"/>
          <p:nvPr/>
        </p:nvSpPr>
        <p:spPr>
          <a:xfrm>
            <a:off x="2898648" y="3063240"/>
            <a:ext cx="1609344" cy="1234440"/>
          </a:xfrm>
          <a:prstGeom prst="rect">
            <a:avLst/>
          </a:prstGeom>
          <a:noFill/>
          <a:ln/>
        </p:spPr>
        <p:txBody>
          <a:bodyPr wrap="square" lIns="0" tIns="0" rIns="0" bIns="0" rtlCol="0" anchor="ctr"/>
          <a:lstStyle/>
          <a:p>
            <a:pPr algn="l" indent="0" marL="0">
              <a:buNone/>
            </a:pPr>
            <a:r>
              <a:rPr lang="en-US" sz="1500" b="1" dirty="0">
                <a:solidFill>
                  <a:schemeClr val="bg1"/>
                </a:solidFill>
              </a:rPr>
              <a:t>Drone model</a:t>
            </a:r>
            <a:endParaRPr lang="en-US" sz="1400" dirty="0"/>
          </a:p>
          <a:p>
            <a:pPr algn="l" indent="0" marL="0">
              <a:buNone/>
            </a:pPr>
            <a:r>
              <a:rPr lang="en-US" sz="1200" dirty="0">
                <a:solidFill>
                  <a:schemeClr val="bg1"/>
                </a:solidFill>
              </a:rPr>
              <a:t>best of the compared candidates</a:t>
            </a:r>
            <a:endParaRPr lang="en-US" sz="1400" dirty="0"/>
          </a:p>
        </p:txBody>
      </p:sp>
      <p:sp>
        <p:nvSpPr>
          <p:cNvPr id="11" name="Fusion"/>
          <p:cNvSpPr/>
          <p:nvPr/>
        </p:nvSpPr>
        <p:spPr>
          <a:xfrm>
            <a:off x="5120640" y="2194560"/>
            <a:ext cx="1645920" cy="1234440"/>
          </a:xfrm>
          <a:prstGeom prst="roundRect">
            <a:avLst>
              <a:gd name="adj" fmla="val 7407"/>
            </a:avLst>
          </a:prstGeom>
          <a:solidFill>
            <a:schemeClr val="accent2"/>
          </a:solidFill>
          <a:ln w="12700">
            <a:solidFill>
              <a:schemeClr val="accent2"/>
            </a:solidFill>
            <a:prstDash val="solid"/>
          </a:ln>
        </p:spPr>
      </p:sp>
      <p:sp>
        <p:nvSpPr>
          <p:cNvPr id="12" name="Text 10"/>
          <p:cNvSpPr txBox="1"/>
          <p:nvPr/>
        </p:nvSpPr>
        <p:spPr>
          <a:xfrm>
            <a:off x="5230368" y="2194560"/>
            <a:ext cx="1426464" cy="1234440"/>
          </a:xfrm>
          <a:prstGeom prst="rect">
            <a:avLst/>
          </a:prstGeom>
          <a:noFill/>
          <a:ln/>
        </p:spPr>
        <p:txBody>
          <a:bodyPr wrap="square" lIns="0" tIns="0" rIns="0" bIns="0" rtlCol="0" anchor="ctr"/>
          <a:lstStyle/>
          <a:p>
            <a:pPr algn="l" indent="0" marL="0">
              <a:buNone/>
            </a:pPr>
            <a:r>
              <a:rPr lang="en-US" sz="1500" b="1" dirty="0">
                <a:solidFill>
                  <a:schemeClr val="tx1"/>
                </a:solidFill>
              </a:rPr>
              <a:t>Risk fusion</a:t>
            </a:r>
            <a:endParaRPr lang="en-US" sz="1400" dirty="0"/>
          </a:p>
          <a:p>
            <a:pPr algn="l" indent="0" marL="0">
              <a:buNone/>
            </a:pPr>
            <a:r>
              <a:rPr lang="en-US" sz="1200" dirty="0">
                <a:solidFill>
                  <a:schemeClr val="tx1"/>
                </a:solidFill>
              </a:rPr>
              <a:t>weighted blend with safety floor</a:t>
            </a:r>
            <a:endParaRPr lang="en-US" sz="1400" dirty="0"/>
          </a:p>
        </p:txBody>
      </p:sp>
      <p:sp>
        <p:nvSpPr>
          <p:cNvPr id="13" name="Dashboard"/>
          <p:cNvSpPr/>
          <p:nvPr/>
        </p:nvSpPr>
        <p:spPr>
          <a:xfrm>
            <a:off x="7269480" y="2194560"/>
            <a:ext cx="1417320" cy="1234440"/>
          </a:xfrm>
          <a:prstGeom prst="roundRect">
            <a:avLst>
              <a:gd name="adj" fmla="val 7407"/>
            </a:avLst>
          </a:prstGeom>
          <a:solidFill>
            <a:schemeClr val="tx2"/>
          </a:solidFill>
          <a:ln w="12700">
            <a:solidFill>
              <a:schemeClr val="tx2"/>
            </a:solidFill>
            <a:prstDash val="solid"/>
          </a:ln>
        </p:spPr>
      </p:sp>
      <p:sp>
        <p:nvSpPr>
          <p:cNvPr id="14" name="Text 12"/>
          <p:cNvSpPr txBox="1"/>
          <p:nvPr/>
        </p:nvSpPr>
        <p:spPr>
          <a:xfrm>
            <a:off x="7379208" y="2194560"/>
            <a:ext cx="1197864" cy="1234440"/>
          </a:xfrm>
          <a:prstGeom prst="rect">
            <a:avLst/>
          </a:prstGeom>
          <a:noFill/>
          <a:ln/>
        </p:spPr>
        <p:txBody>
          <a:bodyPr wrap="square" lIns="0" tIns="0" rIns="0" bIns="0" rtlCol="0" anchor="ctr"/>
          <a:lstStyle/>
          <a:p>
            <a:pPr algn="l" indent="0" marL="0">
              <a:buNone/>
            </a:pPr>
            <a:r>
              <a:rPr lang="en-US" sz="1500" b="1" dirty="0">
                <a:solidFill>
                  <a:schemeClr val="bg1"/>
                </a:solidFill>
              </a:rPr>
              <a:t>Dashboard</a:t>
            </a:r>
            <a:endParaRPr lang="en-US" sz="1400" dirty="0"/>
          </a:p>
          <a:p>
            <a:pPr algn="l" indent="0" marL="0">
              <a:buNone/>
            </a:pPr>
            <a:r>
              <a:rPr lang="en-US" sz="1200" dirty="0">
                <a:solidFill>
                  <a:schemeClr val="bg1"/>
                </a:solidFill>
              </a:rPr>
              <a:t>map, ranking, storm plan</a:t>
            </a:r>
            <a:endParaRPr lang="en-US" sz="1400" dirty="0"/>
          </a:p>
        </p:txBody>
      </p:sp>
      <p:sp>
        <p:nvSpPr>
          <p:cNvPr id="15" name="Arrow"/>
          <p:cNvSpPr/>
          <p:nvPr/>
        </p:nvSpPr>
        <p:spPr>
          <a:xfrm>
            <a:off x="2286000" y="1988820"/>
            <a:ext cx="502920" cy="0"/>
          </a:xfrm>
          <a:prstGeom prst="line">
            <a:avLst/>
          </a:prstGeom>
          <a:noFill/>
          <a:ln w="25400">
            <a:solidFill>
              <a:srgbClr val="5B6B61"/>
            </a:solidFill>
            <a:prstDash val="solid"/>
            <a:tailEnd type="triangle"/>
          </a:ln>
        </p:spPr>
      </p:sp>
      <p:sp>
        <p:nvSpPr>
          <p:cNvPr id="16" name="Arrow"/>
          <p:cNvSpPr/>
          <p:nvPr/>
        </p:nvSpPr>
        <p:spPr>
          <a:xfrm>
            <a:off x="2286000" y="3680460"/>
            <a:ext cx="502920" cy="0"/>
          </a:xfrm>
          <a:prstGeom prst="line">
            <a:avLst/>
          </a:prstGeom>
          <a:noFill/>
          <a:ln w="25400">
            <a:solidFill>
              <a:srgbClr val="5B6B61"/>
            </a:solidFill>
            <a:prstDash val="solid"/>
            <a:tailEnd type="triangle"/>
          </a:ln>
        </p:spPr>
      </p:sp>
      <p:sp>
        <p:nvSpPr>
          <p:cNvPr id="17" name="Arrow"/>
          <p:cNvSpPr/>
          <p:nvPr/>
        </p:nvSpPr>
        <p:spPr>
          <a:xfrm>
            <a:off x="4617720" y="1988820"/>
            <a:ext cx="502920" cy="525780"/>
          </a:xfrm>
          <a:prstGeom prst="line">
            <a:avLst/>
          </a:prstGeom>
          <a:noFill/>
          <a:ln w="25400">
            <a:solidFill>
              <a:srgbClr val="5B6B61"/>
            </a:solidFill>
            <a:prstDash val="solid"/>
            <a:tailEnd type="triangle"/>
          </a:ln>
        </p:spPr>
      </p:sp>
      <p:sp>
        <p:nvSpPr>
          <p:cNvPr id="18" name="Arrow"/>
          <p:cNvSpPr/>
          <p:nvPr/>
        </p:nvSpPr>
        <p:spPr>
          <a:xfrm flipV="1">
            <a:off x="4617720" y="3108960"/>
            <a:ext cx="502920" cy="571500"/>
          </a:xfrm>
          <a:prstGeom prst="line">
            <a:avLst/>
          </a:prstGeom>
          <a:noFill/>
          <a:ln w="25400">
            <a:solidFill>
              <a:srgbClr val="5B6B61"/>
            </a:solidFill>
            <a:prstDash val="solid"/>
            <a:tailEnd type="triangle"/>
          </a:ln>
        </p:spPr>
      </p:sp>
      <p:sp>
        <p:nvSpPr>
          <p:cNvPr id="19" name="Arrow"/>
          <p:cNvSpPr/>
          <p:nvPr/>
        </p:nvSpPr>
        <p:spPr>
          <a:xfrm>
            <a:off x="6766560" y="2811780"/>
            <a:ext cx="502920" cy="0"/>
          </a:xfrm>
          <a:prstGeom prst="line">
            <a:avLst/>
          </a:prstGeom>
          <a:noFill/>
          <a:ln w="25400">
            <a:solidFill>
              <a:srgbClr val="5B6B61"/>
            </a:solidFill>
            <a:prstDash val="solid"/>
            <a:tailEnd type="triangle"/>
          </a:ln>
        </p:spPr>
      </p:sp>
      <p:sp>
        <p:nvSpPr>
          <p:cNvPr id="20" name="Text 18"/>
          <p:cNvSpPr txBox="1"/>
          <p:nvPr/>
        </p:nvSpPr>
        <p:spPr>
          <a:xfrm>
            <a:off x="457200" y="4434840"/>
            <a:ext cx="7498080" cy="274320"/>
          </a:xfrm>
          <a:prstGeom prst="rect">
            <a:avLst/>
          </a:prstGeom>
          <a:noFill/>
          <a:ln/>
        </p:spPr>
        <p:txBody>
          <a:bodyPr wrap="square" lIns="0" tIns="0" rIns="0" bIns="0" rtlCol="0" anchor="t"/>
          <a:lstStyle/>
          <a:p>
            <a:pPr algn="l" indent="0" marL="0">
              <a:buNone/>
            </a:pPr>
            <a:r>
              <a:rPr lang="en-US" sz="1100" dirty="0">
                <a:solidFill>
                  <a:schemeClr val="accent6"/>
                </a:solidFill>
              </a:rPr>
              <a:t>Code: app.py · drone_model.py · train_drone_model.py · drone_data_generator.py</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What the drone model sees</a:t>
            </a:r>
            <a:endParaRPr lang="en-US" sz="3400" dirty="0"/>
          </a:p>
        </p:txBody>
      </p:sp>
      <p:sp>
        <p:nvSpPr>
          <p:cNvPr id="3" name="Class card Clear"/>
          <p:cNvSpPr/>
          <p:nvPr/>
        </p:nvSpPr>
        <p:spPr>
          <a:xfrm>
            <a:off x="457200" y="1234440"/>
            <a:ext cx="2560320" cy="3200400"/>
          </a:xfrm>
          <a:prstGeom prst="roundRect">
            <a:avLst>
              <a:gd name="adj" fmla="val 4286"/>
            </a:avLst>
          </a:prstGeom>
          <a:solidFill>
            <a:schemeClr val="bg2"/>
          </a:solidFill>
          <a:ln w="12700">
            <a:solidFill>
              <a:schemeClr val="bg2"/>
            </a:solidFill>
            <a:prstDash val="solid"/>
          </a:ln>
        </p:spPr>
      </p:sp>
      <p:pic>
        <p:nvPicPr>
          <p:cNvPr id="4" name="Tile Clear" descr="Synthetic Clear drone tile">    </p:cNvPr>
          <p:cNvPicPr>
            <a:picLocks noChangeAspect="1"/>
          </p:cNvPicPr>
          <p:nvPr/>
        </p:nvPicPr>
        <p:blipFill>
          <a:blip r:embed="rId1"/>
          <a:stretch>
            <a:fillRect/>
          </a:stretch>
        </p:blipFill>
        <p:spPr>
          <a:xfrm>
            <a:off x="822960" y="1371600"/>
            <a:ext cx="1828800" cy="1828800"/>
          </a:xfrm>
          <a:prstGeom prst="rect">
            <a:avLst/>
          </a:prstGeom>
        </p:spPr>
      </p:pic>
      <p:sp>
        <p:nvSpPr>
          <p:cNvPr id="5" name="Text 2"/>
          <p:cNvSpPr txBox="1"/>
          <p:nvPr/>
        </p:nvSpPr>
        <p:spPr>
          <a:xfrm>
            <a:off x="685800" y="3273552"/>
            <a:ext cx="2103120" cy="320040"/>
          </a:xfrm>
          <a:prstGeom prst="rect">
            <a:avLst/>
          </a:prstGeom>
          <a:noFill/>
          <a:ln/>
        </p:spPr>
        <p:txBody>
          <a:bodyPr wrap="square" lIns="0" tIns="0" rIns="0" bIns="0" rtlCol="0" anchor="t"/>
          <a:lstStyle/>
          <a:p>
            <a:pPr algn="l" indent="0" marL="0">
              <a:buNone/>
            </a:pPr>
            <a:r>
              <a:rPr lang="en-US" sz="1800" b="1" dirty="0">
                <a:solidFill>
                  <a:schemeClr val="tx2"/>
                </a:solidFill>
              </a:rPr>
              <a:t>Clear</a:t>
            </a:r>
            <a:endParaRPr lang="en-US" sz="1800" dirty="0"/>
          </a:p>
        </p:txBody>
      </p:sp>
      <p:sp>
        <p:nvSpPr>
          <p:cNvPr id="6" name="Text 3"/>
          <p:cNvSpPr txBox="1"/>
          <p:nvPr/>
        </p:nvSpPr>
        <p:spPr>
          <a:xfrm>
            <a:off x="685800" y="3611880"/>
            <a:ext cx="2103120" cy="777240"/>
          </a:xfrm>
          <a:prstGeom prst="rect">
            <a:avLst/>
          </a:prstGeom>
          <a:noFill/>
          <a:ln/>
        </p:spPr>
        <p:txBody>
          <a:bodyPr wrap="square" lIns="0" tIns="0" rIns="0" bIns="0" rtlCol="0" anchor="t"/>
          <a:lstStyle/>
          <a:p>
            <a:pPr algn="l" indent="0" marL="0">
              <a:buNone/>
            </a:pPr>
            <a:r>
              <a:rPr lang="en-US" sz="1200" dirty="0">
                <a:solidFill>
                  <a:schemeClr val="tx1"/>
                </a:solidFill>
              </a:rPr>
              <a:t>Canopy more than 15% of the tile away from the line</a:t>
            </a:r>
            <a:endParaRPr lang="en-US" sz="1200" dirty="0"/>
          </a:p>
          <a:p>
            <a:pPr algn="l" indent="0" marL="0">
              <a:buNone/>
            </a:pPr>
            <a:r>
              <a:rPr lang="en-US" sz="1200" b="1" dirty="0">
                <a:solidFill>
                  <a:schemeClr val="accent1"/>
                </a:solidFill>
              </a:rPr>
              <a:t>Risk weight 0</a:t>
            </a:r>
            <a:endParaRPr lang="en-US" sz="1200" dirty="0"/>
          </a:p>
        </p:txBody>
      </p:sp>
      <p:sp>
        <p:nvSpPr>
          <p:cNvPr id="7" name="Class card Near"/>
          <p:cNvSpPr/>
          <p:nvPr/>
        </p:nvSpPr>
        <p:spPr>
          <a:xfrm>
            <a:off x="3291840" y="1234440"/>
            <a:ext cx="2560320" cy="3200400"/>
          </a:xfrm>
          <a:prstGeom prst="roundRect">
            <a:avLst>
              <a:gd name="adj" fmla="val 4286"/>
            </a:avLst>
          </a:prstGeom>
          <a:solidFill>
            <a:schemeClr val="bg2"/>
          </a:solidFill>
          <a:ln w="12700">
            <a:solidFill>
              <a:schemeClr val="bg2"/>
            </a:solidFill>
            <a:prstDash val="solid"/>
          </a:ln>
        </p:spPr>
      </p:sp>
      <p:pic>
        <p:nvPicPr>
          <p:cNvPr id="8" name="Tile Near" descr="Synthetic Near drone tile">    </p:cNvPr>
          <p:cNvPicPr>
            <a:picLocks noChangeAspect="1"/>
          </p:cNvPicPr>
          <p:nvPr/>
        </p:nvPicPr>
        <p:blipFill>
          <a:blip r:embed="rId2"/>
          <a:stretch>
            <a:fillRect/>
          </a:stretch>
        </p:blipFill>
        <p:spPr>
          <a:xfrm>
            <a:off x="3657600" y="1371600"/>
            <a:ext cx="1828800" cy="1828800"/>
          </a:xfrm>
          <a:prstGeom prst="rect">
            <a:avLst/>
          </a:prstGeom>
        </p:spPr>
      </p:pic>
      <p:sp>
        <p:nvSpPr>
          <p:cNvPr id="9" name="Text 5"/>
          <p:cNvSpPr txBox="1"/>
          <p:nvPr/>
        </p:nvSpPr>
        <p:spPr>
          <a:xfrm>
            <a:off x="3520440" y="3273552"/>
            <a:ext cx="2103120" cy="320040"/>
          </a:xfrm>
          <a:prstGeom prst="rect">
            <a:avLst/>
          </a:prstGeom>
          <a:noFill/>
          <a:ln/>
        </p:spPr>
        <p:txBody>
          <a:bodyPr wrap="square" lIns="0" tIns="0" rIns="0" bIns="0" rtlCol="0" anchor="t"/>
          <a:lstStyle/>
          <a:p>
            <a:pPr algn="l" indent="0" marL="0">
              <a:buNone/>
            </a:pPr>
            <a:r>
              <a:rPr lang="en-US" sz="1800" b="1" dirty="0">
                <a:solidFill>
                  <a:schemeClr val="tx2"/>
                </a:solidFill>
              </a:rPr>
              <a:t>Near</a:t>
            </a:r>
            <a:endParaRPr lang="en-US" sz="1800" dirty="0"/>
          </a:p>
        </p:txBody>
      </p:sp>
      <p:sp>
        <p:nvSpPr>
          <p:cNvPr id="10" name="Text 6"/>
          <p:cNvSpPr txBox="1"/>
          <p:nvPr/>
        </p:nvSpPr>
        <p:spPr>
          <a:xfrm>
            <a:off x="3520440" y="3611880"/>
            <a:ext cx="2103120" cy="777240"/>
          </a:xfrm>
          <a:prstGeom prst="rect">
            <a:avLst/>
          </a:prstGeom>
          <a:noFill/>
          <a:ln/>
        </p:spPr>
        <p:txBody>
          <a:bodyPr wrap="square" lIns="0" tIns="0" rIns="0" bIns="0" rtlCol="0" anchor="t"/>
          <a:lstStyle/>
          <a:p>
            <a:pPr algn="l" indent="0" marL="0">
              <a:buNone/>
            </a:pPr>
            <a:r>
              <a:rPr lang="en-US" sz="1200" dirty="0">
                <a:solidFill>
                  <a:schemeClr val="tx1"/>
                </a:solidFill>
              </a:rPr>
              <a:t>Canopy 3–15% of the tile away from the line</a:t>
            </a:r>
            <a:endParaRPr lang="en-US" sz="1200" dirty="0"/>
          </a:p>
          <a:p>
            <a:pPr algn="l" indent="0" marL="0">
              <a:buNone/>
            </a:pPr>
            <a:r>
              <a:rPr lang="en-US" sz="1200" b="1" dirty="0">
                <a:solidFill>
                  <a:schemeClr val="accent1"/>
                </a:solidFill>
              </a:rPr>
              <a:t>Risk weight 0.5</a:t>
            </a:r>
            <a:endParaRPr lang="en-US" sz="1200" dirty="0"/>
          </a:p>
        </p:txBody>
      </p:sp>
      <p:sp>
        <p:nvSpPr>
          <p:cNvPr id="11" name="Class card Encroaching"/>
          <p:cNvSpPr/>
          <p:nvPr/>
        </p:nvSpPr>
        <p:spPr>
          <a:xfrm>
            <a:off x="6126480" y="1234440"/>
            <a:ext cx="2560320" cy="3200400"/>
          </a:xfrm>
          <a:prstGeom prst="roundRect">
            <a:avLst>
              <a:gd name="adj" fmla="val 4286"/>
            </a:avLst>
          </a:prstGeom>
          <a:solidFill>
            <a:schemeClr val="bg2"/>
          </a:solidFill>
          <a:ln w="12700">
            <a:solidFill>
              <a:schemeClr val="bg2"/>
            </a:solidFill>
            <a:prstDash val="solid"/>
          </a:ln>
        </p:spPr>
      </p:sp>
      <p:pic>
        <p:nvPicPr>
          <p:cNvPr id="12" name="Tile Encroaching" descr="Synthetic Encroaching drone tile">    </p:cNvPr>
          <p:cNvPicPr>
            <a:picLocks noChangeAspect="1"/>
          </p:cNvPicPr>
          <p:nvPr/>
        </p:nvPicPr>
        <p:blipFill>
          <a:blip r:embed="rId3"/>
          <a:stretch>
            <a:fillRect/>
          </a:stretch>
        </p:blipFill>
        <p:spPr>
          <a:xfrm>
            <a:off x="6492240" y="1371600"/>
            <a:ext cx="1828800" cy="1828800"/>
          </a:xfrm>
          <a:prstGeom prst="rect">
            <a:avLst/>
          </a:prstGeom>
        </p:spPr>
      </p:pic>
      <p:sp>
        <p:nvSpPr>
          <p:cNvPr id="13" name="Text 8"/>
          <p:cNvSpPr txBox="1"/>
          <p:nvPr/>
        </p:nvSpPr>
        <p:spPr>
          <a:xfrm>
            <a:off x="6355080" y="3273552"/>
            <a:ext cx="2103120" cy="320040"/>
          </a:xfrm>
          <a:prstGeom prst="rect">
            <a:avLst/>
          </a:prstGeom>
          <a:noFill/>
          <a:ln/>
        </p:spPr>
        <p:txBody>
          <a:bodyPr wrap="square" lIns="0" tIns="0" rIns="0" bIns="0" rtlCol="0" anchor="t"/>
          <a:lstStyle/>
          <a:p>
            <a:pPr algn="l" indent="0" marL="0">
              <a:buNone/>
            </a:pPr>
            <a:r>
              <a:rPr lang="en-US" sz="1800" b="1" dirty="0">
                <a:solidFill>
                  <a:schemeClr val="tx2"/>
                </a:solidFill>
              </a:rPr>
              <a:t>Encroaching</a:t>
            </a:r>
            <a:endParaRPr lang="en-US" sz="1800" dirty="0"/>
          </a:p>
        </p:txBody>
      </p:sp>
      <p:sp>
        <p:nvSpPr>
          <p:cNvPr id="14" name="Text 9"/>
          <p:cNvSpPr txBox="1"/>
          <p:nvPr/>
        </p:nvSpPr>
        <p:spPr>
          <a:xfrm>
            <a:off x="6355080" y="3611880"/>
            <a:ext cx="2103120" cy="777240"/>
          </a:xfrm>
          <a:prstGeom prst="rect">
            <a:avLst/>
          </a:prstGeom>
          <a:noFill/>
          <a:ln/>
        </p:spPr>
        <p:txBody>
          <a:bodyPr wrap="square" lIns="0" tIns="0" rIns="0" bIns="0" rtlCol="0" anchor="t"/>
          <a:lstStyle/>
          <a:p>
            <a:pPr algn="l" indent="0" marL="0">
              <a:buNone/>
            </a:pPr>
            <a:r>
              <a:rPr lang="en-US" sz="1200" dirty="0">
                <a:solidFill>
                  <a:schemeClr val="tx1"/>
                </a:solidFill>
              </a:rPr>
              <a:t>Canopy within 3% of the line or overlapping it</a:t>
            </a:r>
            <a:endParaRPr lang="en-US" sz="1200" dirty="0"/>
          </a:p>
          <a:p>
            <a:pPr algn="l" indent="0" marL="0">
              <a:buNone/>
            </a:pPr>
            <a:r>
              <a:rPr lang="en-US" sz="1200" b="1" dirty="0">
                <a:solidFill>
                  <a:schemeClr val="accent1"/>
                </a:solidFill>
              </a:rPr>
              <a:t>Risk weight 1.0</a:t>
            </a:r>
            <a:endParaRPr lang="en-US" sz="1200" dirty="0"/>
          </a:p>
        </p:txBody>
      </p:sp>
      <p:sp>
        <p:nvSpPr>
          <p:cNvPr id="15" name="Text 10"/>
          <p:cNvSpPr txBox="1"/>
          <p:nvPr/>
        </p:nvSpPr>
        <p:spPr>
          <a:xfrm>
            <a:off x="457200" y="4526280"/>
            <a:ext cx="7680960" cy="274320"/>
          </a:xfrm>
          <a:prstGeom prst="rect">
            <a:avLst/>
          </a:prstGeom>
          <a:noFill/>
          <a:ln/>
        </p:spPr>
        <p:txBody>
          <a:bodyPr wrap="square" lIns="0" tIns="0" rIns="0" bIns="0" rtlCol="0" anchor="t"/>
          <a:lstStyle/>
          <a:p>
            <a:pPr algn="l" indent="0" marL="0">
              <a:buNone/>
            </a:pPr>
            <a:r>
              <a:rPr lang="en-US" sz="1100" dirty="0">
                <a:solidFill>
                  <a:schemeClr val="accent6"/>
                </a:solidFill>
              </a:rPr>
              <a:t>Tiles are synthetic stand-ins. Real labelled tiles go in the same three folders and are picked up by the training script.</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Picking the best model</a:t>
            </a:r>
            <a:endParaRPr lang="en-US" sz="3400" dirty="0"/>
          </a:p>
        </p:txBody>
      </p:sp>
      <p:graphicFrame>
        <p:nvGraphicFramePr>
          <p:cNvPr id="3" name="Chart 0" descr=""/>
          <p:cNvGraphicFramePr/>
          <p:nvPr/>
        </p:nvGraphicFramePr>
        <p:xfrm>
          <a:off x="457200" y="128016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669280" y="1280160"/>
            <a:ext cx="3017520" cy="274320"/>
          </a:xfrm>
          <a:prstGeom prst="rect">
            <a:avLst/>
          </a:prstGeom>
          <a:noFill/>
          <a:ln/>
        </p:spPr>
        <p:txBody>
          <a:bodyPr wrap="square" lIns="0" tIns="0" rIns="0" bIns="0" rtlCol="0" anchor="t"/>
          <a:lstStyle/>
          <a:p>
            <a:pPr algn="l" indent="0" marL="0">
              <a:buNone/>
            </a:pPr>
            <a:r>
              <a:rPr lang="en-US" sz="1400" dirty="0">
                <a:solidFill>
                  <a:schemeClr val="accent6"/>
                </a:solidFill>
              </a:rPr>
              <a:t>Selected model</a:t>
            </a:r>
            <a:endParaRPr lang="en-US" sz="1400" dirty="0"/>
          </a:p>
        </p:txBody>
      </p:sp>
      <p:sp>
        <p:nvSpPr>
          <p:cNvPr id="5" name="Text 2"/>
          <p:cNvSpPr txBox="1"/>
          <p:nvPr/>
        </p:nvSpPr>
        <p:spPr>
          <a:xfrm>
            <a:off x="5669280" y="1554480"/>
            <a:ext cx="3017520" cy="365760"/>
          </a:xfrm>
          <a:prstGeom prst="rect">
            <a:avLst/>
          </a:prstGeom>
          <a:noFill/>
          <a:ln/>
        </p:spPr>
        <p:txBody>
          <a:bodyPr wrap="square" lIns="0" tIns="0" rIns="0" bIns="0" rtlCol="0" anchor="t"/>
          <a:lstStyle/>
          <a:p>
            <a:pPr algn="l" indent="0" marL="0">
              <a:buNone/>
            </a:pPr>
            <a:r>
              <a:rPr lang="en-US" sz="2000" b="1" dirty="0">
                <a:solidFill>
                  <a:schemeClr val="tx2"/>
                </a:solidFill>
              </a:rPr>
              <a:t>Logistic Regression</a:t>
            </a:r>
            <a:endParaRPr lang="en-US" sz="2000" dirty="0"/>
          </a:p>
        </p:txBody>
      </p:sp>
      <p:sp>
        <p:nvSpPr>
          <p:cNvPr id="6" name="Text 3"/>
          <p:cNvSpPr txBox="1"/>
          <p:nvPr/>
        </p:nvSpPr>
        <p:spPr>
          <a:xfrm>
            <a:off x="5669280" y="1965960"/>
            <a:ext cx="3017520" cy="868680"/>
          </a:xfrm>
          <a:prstGeom prst="rect">
            <a:avLst/>
          </a:prstGeom>
          <a:noFill/>
          <a:ln/>
        </p:spPr>
        <p:txBody>
          <a:bodyPr wrap="square" lIns="0" tIns="0" rIns="0" bIns="0" rtlCol="0" anchor="ctr"/>
          <a:lstStyle/>
          <a:p>
            <a:pPr algn="l" indent="0" marL="0">
              <a:buNone/>
            </a:pPr>
            <a:r>
              <a:rPr lang="en-US" sz="5400" b="1" dirty="0">
                <a:solidFill>
                  <a:schemeClr val="accent1"/>
                </a:solidFill>
              </a:rPr>
              <a:t>0.978</a:t>
            </a:r>
            <a:endParaRPr lang="en-US" sz="5400" dirty="0"/>
          </a:p>
        </p:txBody>
      </p:sp>
      <p:sp>
        <p:nvSpPr>
          <p:cNvPr id="7" name="Text 4"/>
          <p:cNvSpPr txBox="1"/>
          <p:nvPr/>
        </p:nvSpPr>
        <p:spPr>
          <a:xfrm>
            <a:off x="5669280" y="2834640"/>
            <a:ext cx="3017520" cy="457200"/>
          </a:xfrm>
          <a:prstGeom prst="rect">
            <a:avLst/>
          </a:prstGeom>
          <a:noFill/>
          <a:ln/>
        </p:spPr>
        <p:txBody>
          <a:bodyPr wrap="square" lIns="0" tIns="0" rIns="0" bIns="0" rtlCol="0" anchor="t"/>
          <a:lstStyle/>
          <a:p>
            <a:pPr algn="l" indent="0" marL="0">
              <a:buNone/>
            </a:pPr>
            <a:r>
              <a:rPr lang="en-US" sz="1400" dirty="0">
                <a:solidFill>
                  <a:schemeClr val="tx1"/>
                </a:solidFill>
              </a:rPr>
              <a:t>macro-F1 on 135 held-out test images</a:t>
            </a:r>
            <a:endParaRPr lang="en-US" sz="1400" dirty="0"/>
          </a:p>
        </p:txBody>
      </p:sp>
      <p:sp>
        <p:nvSpPr>
          <p:cNvPr id="8" name="Text 5"/>
          <p:cNvSpPr txBox="1"/>
          <p:nvPr/>
        </p:nvSpPr>
        <p:spPr>
          <a:xfrm>
            <a:off x="5669280" y="3383280"/>
            <a:ext cx="3017520" cy="731520"/>
          </a:xfrm>
          <a:prstGeom prst="rect">
            <a:avLst/>
          </a:prstGeom>
          <a:noFill/>
          <a:ln/>
        </p:spPr>
        <p:txBody>
          <a:bodyPr wrap="square" lIns="0" tIns="0" rIns="0" bIns="0" rtlCol="0" anchor="t"/>
          <a:lstStyle/>
          <a:p>
            <a:pPr algn="l" indent="0" marL="0">
              <a:buNone/>
            </a:pPr>
            <a:r>
              <a:rPr lang="en-US" sz="1400" dirty="0">
                <a:solidFill>
                  <a:schemeClr val="tx1"/>
                </a:solidFill>
              </a:rPr>
              <a:t>Three models tied on validation. A 1–2 image gap out of 135 is noise, so treat the top three as equals.</a:t>
            </a:r>
            <a:endParaRPr lang="en-US" sz="1400" dirty="0"/>
          </a:p>
        </p:txBody>
      </p:sp>
      <p:sp>
        <p:nvSpPr>
          <p:cNvPr id="9" name="Text 6"/>
          <p:cNvSpPr txBox="1"/>
          <p:nvPr/>
        </p:nvSpPr>
        <p:spPr>
          <a:xfrm>
            <a:off x="5669280" y="4114800"/>
            <a:ext cx="3017520" cy="457200"/>
          </a:xfrm>
          <a:prstGeom prst="rect">
            <a:avLst/>
          </a:prstGeom>
          <a:noFill/>
          <a:ln/>
        </p:spPr>
        <p:txBody>
          <a:bodyPr wrap="square" lIns="0" tIns="0" rIns="0" bIns="0" rtlCol="0" anchor="t"/>
          <a:lstStyle/>
          <a:p>
            <a:pPr algn="l" indent="0" marL="0">
              <a:buNone/>
            </a:pPr>
            <a:r>
              <a:rPr lang="en-US" sz="1200" dirty="0">
                <a:solidFill>
                  <a:schemeClr val="accent6"/>
                </a:solidFill>
              </a:rPr>
              <a:t>Run with --cnn to add MobileNetV3, ResNet18 and EfficientNet-B0.</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Fusing image and tabular risk</a:t>
            </a:r>
            <a:endParaRPr lang="en-US" sz="3400" dirty="0"/>
          </a:p>
        </p:txBody>
      </p:sp>
      <p:sp>
        <p:nvSpPr>
          <p:cNvPr id="3" name="Formula card"/>
          <p:cNvSpPr/>
          <p:nvPr/>
        </p:nvSpPr>
        <p:spPr>
          <a:xfrm>
            <a:off x="457200" y="1280160"/>
            <a:ext cx="4206240" cy="1188720"/>
          </a:xfrm>
          <a:prstGeom prst="roundRect">
            <a:avLst>
              <a:gd name="adj" fmla="val 7692"/>
            </a:avLst>
          </a:prstGeom>
          <a:solidFill>
            <a:schemeClr val="bg2"/>
          </a:solidFill>
          <a:ln w="12700">
            <a:solidFill>
              <a:schemeClr val="bg2"/>
            </a:solidFill>
            <a:prstDash val="solid"/>
          </a:ln>
        </p:spPr>
      </p:sp>
      <p:sp>
        <p:nvSpPr>
          <p:cNvPr id="4" name="Text 2"/>
          <p:cNvSpPr txBox="1"/>
          <p:nvPr/>
        </p:nvSpPr>
        <p:spPr>
          <a:xfrm>
            <a:off x="640080" y="1280160"/>
            <a:ext cx="3840480" cy="1188720"/>
          </a:xfrm>
          <a:prstGeom prst="rect">
            <a:avLst/>
          </a:prstGeom>
          <a:noFill/>
          <a:ln/>
        </p:spPr>
        <p:txBody>
          <a:bodyPr wrap="square" lIns="0" tIns="0" rIns="0" bIns="0" rtlCol="0" anchor="ctr"/>
          <a:lstStyle/>
          <a:p>
            <a:pPr algn="l" indent="0" marL="0">
              <a:buNone/>
            </a:pPr>
            <a:r>
              <a:rPr lang="en-US" sz="1600" b="1" dirty="0">
                <a:solidFill>
                  <a:schemeClr val="tx2"/>
                </a:solidFill>
              </a:rPr>
              <a:t>risk = (1 − w) × tabular + w × drone</a:t>
            </a:r>
            <a:endParaRPr lang="en-US" sz="1400" dirty="0"/>
          </a:p>
          <a:p>
            <a:pPr algn="l" indent="0" marL="0">
              <a:buNone/>
            </a:pPr>
            <a:r>
              <a:rPr lang="en-US" sz="1400" dirty="0">
                <a:solidFill>
                  <a:schemeClr val="tx2"/>
                </a:solidFill>
              </a:rPr>
              <a:t>w is the sidebar slider, default 0.5</a:t>
            </a:r>
            <a:endParaRPr lang="en-US" sz="1400" dirty="0"/>
          </a:p>
        </p:txBody>
      </p:sp>
      <p:sp>
        <p:nvSpPr>
          <p:cNvPr id="5" name="Image risk card"/>
          <p:cNvSpPr/>
          <p:nvPr/>
        </p:nvSpPr>
        <p:spPr>
          <a:xfrm>
            <a:off x="457200" y="2606040"/>
            <a:ext cx="4206240" cy="914400"/>
          </a:xfrm>
          <a:prstGeom prst="roundRect">
            <a:avLst>
              <a:gd name="adj" fmla="val 10000"/>
            </a:avLst>
          </a:prstGeom>
          <a:solidFill>
            <a:schemeClr val="bg2"/>
          </a:solidFill>
          <a:ln w="12700">
            <a:solidFill>
              <a:schemeClr val="bg2"/>
            </a:solidFill>
            <a:prstDash val="solid"/>
          </a:ln>
        </p:spPr>
      </p:sp>
      <p:sp>
        <p:nvSpPr>
          <p:cNvPr id="6" name="Text 4"/>
          <p:cNvSpPr txBox="1"/>
          <p:nvPr/>
        </p:nvSpPr>
        <p:spPr>
          <a:xfrm>
            <a:off x="640080" y="2606040"/>
            <a:ext cx="3840480" cy="914400"/>
          </a:xfrm>
          <a:prstGeom prst="rect">
            <a:avLst/>
          </a:prstGeom>
          <a:noFill/>
          <a:ln/>
        </p:spPr>
        <p:txBody>
          <a:bodyPr wrap="square" lIns="0" tIns="0" rIns="0" bIns="0" rtlCol="0" anchor="ctr"/>
          <a:lstStyle/>
          <a:p>
            <a:pPr algn="l" indent="0" marL="0">
              <a:buNone/>
            </a:pPr>
            <a:r>
              <a:rPr lang="en-US" sz="1400" b="1" dirty="0">
                <a:solidFill>
                  <a:schemeClr val="tx2"/>
                </a:solidFill>
              </a:rPr>
              <a:t>Drone risk = Σ P(class) × severity</a:t>
            </a:r>
            <a:endParaRPr lang="en-US" sz="1400" dirty="0"/>
          </a:p>
          <a:p>
            <a:pPr algn="l" indent="0" marL="0">
              <a:buNone/>
            </a:pPr>
            <a:r>
              <a:rPr lang="en-US" sz="1400" dirty="0">
                <a:solidFill>
                  <a:schemeClr val="tx2"/>
                </a:solidFill>
              </a:rPr>
              <a:t>clear 0 · near 0.5 · encroaching 1</a:t>
            </a:r>
            <a:endParaRPr lang="en-US" sz="1400" dirty="0"/>
          </a:p>
        </p:txBody>
      </p:sp>
      <p:sp>
        <p:nvSpPr>
          <p:cNvPr id="7" name="Floor card"/>
          <p:cNvSpPr/>
          <p:nvPr/>
        </p:nvSpPr>
        <p:spPr>
          <a:xfrm>
            <a:off x="457200" y="3657600"/>
            <a:ext cx="4206240" cy="914400"/>
          </a:xfrm>
          <a:prstGeom prst="roundRect">
            <a:avLst>
              <a:gd name="adj" fmla="val 10000"/>
            </a:avLst>
          </a:prstGeom>
          <a:solidFill>
            <a:schemeClr val="bg2"/>
          </a:solidFill>
          <a:ln w="12700">
            <a:solidFill>
              <a:schemeClr val="bg2"/>
            </a:solidFill>
            <a:prstDash val="solid"/>
          </a:ln>
        </p:spPr>
      </p:sp>
      <p:sp>
        <p:nvSpPr>
          <p:cNvPr id="8" name="Text 6"/>
          <p:cNvSpPr txBox="1"/>
          <p:nvPr/>
        </p:nvSpPr>
        <p:spPr>
          <a:xfrm>
            <a:off x="640080" y="3657600"/>
            <a:ext cx="3840480" cy="914400"/>
          </a:xfrm>
          <a:prstGeom prst="rect">
            <a:avLst/>
          </a:prstGeom>
          <a:noFill/>
          <a:ln/>
        </p:spPr>
        <p:txBody>
          <a:bodyPr wrap="square" lIns="0" tIns="0" rIns="0" bIns="0" rtlCol="0" anchor="ctr"/>
          <a:lstStyle/>
          <a:p>
            <a:pPr algn="l" indent="0" marL="0">
              <a:buNone/>
            </a:pPr>
            <a:r>
              <a:rPr lang="en-US" sz="1400" b="1" dirty="0">
                <a:solidFill>
                  <a:schemeClr val="tx2"/>
                </a:solidFill>
              </a:rPr>
              <a:t>Safety floor: </a:t>
            </a:r>
            <a:pPr algn="l" indent="0" marL="0">
              <a:buNone/>
            </a:pPr>
            <a:r>
              <a:rPr lang="en-US" sz="1400" dirty="0">
                <a:solidFill>
                  <a:schemeClr val="tx2"/>
                </a:solidFill>
              </a:rPr>
              <a:t>an image risk of 0.8 or more is never averaged below itself</a:t>
            </a:r>
            <a:endParaRPr lang="en-US" sz="1400" dirty="0"/>
          </a:p>
        </p:txBody>
      </p:sp>
      <p:graphicFrame>
        <p:nvGraphicFramePr>
          <p:cNvPr id="7" name="Fusion examples"/>
          <p:cNvGraphicFramePr>
            <a:graphicFrameLocks noGrp="1"/>
          </p:cNvGraphicFramePr>
          <p:nvPr>
            <p:extLst>
              <p:ext uri="{D42A27DB-BD31-4B8C-83A1-F6EECF244321}">
                <p14:modId xmlns:p14="http://schemas.microsoft.com/office/powerpoint/2010/main" val="1579011935"/>
              </p:ext>
            </p:extLst>
          </p:nvPr>
        </p:nvGraphicFramePr>
        <p:xfrm>
          <a:off x="4937760" y="1280160"/>
          <a:ext cx="3749040" cy="914400"/>
        </p:xfrm>
        <a:graphic>
          <a:graphicData uri="http://schemas.openxmlformats.org/drawingml/2006/table">
            <a:tbl>
              <a:tblPr/>
              <a:tblGrid>
                <a:gridCol w="1005840"/>
                <a:gridCol w="914400"/>
                <a:gridCol w="914400"/>
                <a:gridCol w="914400"/>
              </a:tblGrid>
              <a:tr h="438912">
                <a:tc>
                  <a:txBody>
                    <a:bodyPr/>
                    <a:lstStyle/>
                    <a:p>
                      <a:pPr algn="ctr" indent="0" marL="0">
                        <a:buNone/>
                      </a:pPr>
                      <a:r>
                        <a:rPr lang="en-US" sz="1400" b="1" dirty="0">
                          <a:solidFill>
                            <a:schemeClr val="bg1"/>
                          </a:solidFill>
                        </a:rPr>
                        <a:t>Line</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Tabular</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Drone</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Fused</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chemeClr val="accent1"/>
                    </a:solidFill>
                  </a:tcPr>
                </a:tc>
              </a:tr>
              <a:tr h="438912">
                <a:tc>
                  <a:txBody>
                    <a:bodyPr/>
                    <a:lstStyle/>
                    <a:p>
                      <a:pPr algn="ctr" indent="0" marL="0">
                        <a:buNone/>
                      </a:pPr>
                      <a:r>
                        <a:rPr lang="en-US" sz="1400" dirty="0">
                          <a:solidFill>
                            <a:srgbClr val="16241C"/>
                          </a:solidFill>
                        </a:rPr>
                        <a:t>LN-1002</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41C"/>
                          </a:solidFill>
                        </a:rPr>
                        <a:t>0.03</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41C"/>
                          </a:solidFill>
                        </a:rPr>
                        <a:t>0.98</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6241C"/>
                          </a:solidFill>
                        </a:rPr>
                        <a:t>0.98</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r>
              <a:tr h="438912">
                <a:tc>
                  <a:txBody>
                    <a:bodyPr/>
                    <a:lstStyle/>
                    <a:p>
                      <a:pPr algn="ctr" indent="0" marL="0">
                        <a:buNone/>
                      </a:pPr>
                      <a:r>
                        <a:rPr lang="en-US" sz="1400" dirty="0">
                          <a:solidFill>
                            <a:srgbClr val="16241C"/>
                          </a:solidFill>
                        </a:rPr>
                        <a:t>LN-1004</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41C"/>
                          </a:solidFill>
                        </a:rPr>
                        <a:t>0.04</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41C"/>
                          </a:solidFill>
                        </a:rPr>
                        <a:t>0.50</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6241C"/>
                          </a:solidFill>
                        </a:rPr>
                        <a:t>0.27</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r>
              <a:tr h="438912">
                <a:tc>
                  <a:txBody>
                    <a:bodyPr/>
                    <a:lstStyle/>
                    <a:p>
                      <a:pPr algn="ctr" indent="0" marL="0">
                        <a:buNone/>
                      </a:pPr>
                      <a:r>
                        <a:rPr lang="en-US" sz="1400" dirty="0">
                          <a:solidFill>
                            <a:srgbClr val="16241C"/>
                          </a:solidFill>
                        </a:rPr>
                        <a:t>LN-1006</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41C"/>
                          </a:solidFill>
                        </a:rPr>
                        <a:t>0.20</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41C"/>
                          </a:solidFill>
                        </a:rPr>
                        <a:t>0.00</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6241C"/>
                          </a:solidFill>
                        </a:rPr>
                        <a:t>0.10</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r>
              <a:tr h="438912">
                <a:tc>
                  <a:txBody>
                    <a:bodyPr/>
                    <a:lstStyle/>
                    <a:p>
                      <a:pPr algn="ctr" indent="0" marL="0">
                        <a:buNone/>
                      </a:pPr>
                      <a:r>
                        <a:rPr lang="en-US" sz="1400" dirty="0">
                          <a:solidFill>
                            <a:srgbClr val="16241C"/>
                          </a:solidFill>
                        </a:rPr>
                        <a:t>LN-1008</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41C"/>
                          </a:solidFill>
                        </a:rPr>
                        <a:t>0.94</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6241C"/>
                          </a:solidFill>
                        </a:rPr>
                        <a:t>1.00</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6241C"/>
                          </a:solidFill>
                        </a:rPr>
                        <a:t>1.00</a:t>
                      </a:r>
                      <a:endParaRPr lang="en-US" sz="1400" dirty="0"/>
                    </a:p>
                  </a:txBody>
                  <a:tcPr marL="91440" marR="91440" marT="45720" marB="45720" anchor="ctr">
                    <a:lnL w="9525" cap="flat" cmpd="sng" algn="ctr">
                      <a:solidFill>
                        <a:srgbClr val="EEF3EC"/>
                      </a:solidFill>
                      <a:prstDash val="solid"/>
                      <a:round/>
                      <a:headEnd type="none" w="med" len="med"/>
                      <a:tailEnd type="none" w="med" len="med"/>
                    </a:lnL>
                    <a:lnR w="9525" cap="flat" cmpd="sng" algn="ctr">
                      <a:solidFill>
                        <a:srgbClr val="EEF3EC"/>
                      </a:solidFill>
                      <a:prstDash val="solid"/>
                      <a:round/>
                      <a:headEnd type="none" w="med" len="med"/>
                      <a:tailEnd type="none" w="med" len="med"/>
                    </a:lnR>
                    <a:lnT w="9525" cap="flat" cmpd="sng" algn="ctr">
                      <a:solidFill>
                        <a:srgbClr val="EEF3EC"/>
                      </a:solidFill>
                      <a:prstDash val="solid"/>
                      <a:round/>
                      <a:headEnd type="none" w="med" len="med"/>
                      <a:tailEnd type="none" w="med" len="med"/>
                    </a:lnT>
                    <a:lnB w="9525" cap="flat" cmpd="sng" algn="ctr">
                      <a:solidFill>
                        <a:srgbClr val="EEF3EC"/>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4937760" y="3657600"/>
            <a:ext cx="3749040" cy="914400"/>
          </a:xfrm>
          <a:prstGeom prst="rect">
            <a:avLst/>
          </a:prstGeom>
          <a:noFill/>
          <a:ln/>
        </p:spPr>
        <p:txBody>
          <a:bodyPr wrap="square" lIns="0" tIns="0" rIns="0" bIns="0" rtlCol="0" anchor="t"/>
          <a:lstStyle/>
          <a:p>
            <a:pPr algn="l" indent="0" marL="0">
              <a:buNone/>
            </a:pPr>
            <a:r>
              <a:rPr lang="en-US" sz="1400" dirty="0">
                <a:solidFill>
                  <a:schemeClr val="tx1"/>
                </a:solidFill>
              </a:rPr>
              <a:t>Demo run, w = 0.5. Without the floor, LN-1002 would blend to 0.50 and slip under the 0.65 alert threshold. Lines with no image keep their tabular score.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Inside the dashboard</a:t>
            </a:r>
            <a:endParaRPr lang="en-US" sz="3400" dirty="0"/>
          </a:p>
        </p:txBody>
      </p:sp>
      <p:sp>
        <p:nvSpPr>
          <p:cNvPr id="3" name="Tab card 1"/>
          <p:cNvSpPr/>
          <p:nvPr/>
        </p:nvSpPr>
        <p:spPr>
          <a:xfrm>
            <a:off x="457200" y="1280160"/>
            <a:ext cx="4023360" cy="1463040"/>
          </a:xfrm>
          <a:prstGeom prst="roundRect">
            <a:avLst>
              <a:gd name="adj" fmla="val 6250"/>
            </a:avLst>
          </a:prstGeom>
          <a:solidFill>
            <a:schemeClr val="bg2"/>
          </a:solidFill>
          <a:ln w="12700">
            <a:solidFill>
              <a:schemeClr val="bg2"/>
            </a:solidFill>
            <a:prstDash val="solid"/>
          </a:ln>
        </p:spPr>
      </p:sp>
      <p:sp>
        <p:nvSpPr>
          <p:cNvPr id="4" name="Tab 1 circle"/>
          <p:cNvSpPr/>
          <p:nvPr/>
        </p:nvSpPr>
        <p:spPr>
          <a:xfrm>
            <a:off x="685800" y="1691640"/>
            <a:ext cx="640080" cy="640080"/>
          </a:xfrm>
          <a:prstGeom prst="ellipse">
            <a:avLst/>
          </a:prstGeom>
          <a:solidFill>
            <a:srgbClr val="1F6B4A"/>
          </a:solidFill>
          <a:ln w="12700">
            <a:solidFill>
              <a:srgbClr val="1F6B4A"/>
            </a:solidFill>
            <a:prstDash val="solid"/>
          </a:ln>
        </p:spPr>
      </p:sp>
      <p:pic>
        <p:nvPicPr>
          <p:cNvPr id="5" name="Tab 1 icon" descr="Tab 1">    </p:cNvPr>
          <p:cNvPicPr>
            <a:picLocks noChangeAspect="1"/>
          </p:cNvPicPr>
          <p:nvPr/>
        </p:nvPicPr>
        <p:blipFill>
          <a:blip r:embed="rId1"/>
          <a:stretch>
            <a:fillRect/>
          </a:stretch>
        </p:blipFill>
        <p:spPr>
          <a:xfrm>
            <a:off x="845820" y="1851660"/>
            <a:ext cx="320040" cy="320040"/>
          </a:xfrm>
          <a:prstGeom prst="rect">
            <a:avLst/>
          </a:prstGeom>
        </p:spPr>
      </p:pic>
      <p:sp>
        <p:nvSpPr>
          <p:cNvPr id="6" name="Text 3"/>
          <p:cNvSpPr txBox="1"/>
          <p:nvPr/>
        </p:nvSpPr>
        <p:spPr>
          <a:xfrm>
            <a:off x="1508760" y="1463040"/>
            <a:ext cx="2834640" cy="365760"/>
          </a:xfrm>
          <a:prstGeom prst="rect">
            <a:avLst/>
          </a:prstGeom>
          <a:noFill/>
          <a:ln/>
        </p:spPr>
        <p:txBody>
          <a:bodyPr wrap="square" lIns="0" tIns="0" rIns="0" bIns="0" rtlCol="0" anchor="t"/>
          <a:lstStyle/>
          <a:p>
            <a:pPr algn="l" indent="0" marL="0">
              <a:buNone/>
            </a:pPr>
            <a:r>
              <a:rPr lang="en-US" sz="1600" b="1" dirty="0">
                <a:solidFill>
                  <a:schemeClr val="tx2"/>
                </a:solidFill>
              </a:rPr>
              <a:t>Geospatial risk map</a:t>
            </a:r>
            <a:endParaRPr lang="en-US" sz="1600" dirty="0"/>
          </a:p>
        </p:txBody>
      </p:sp>
      <p:sp>
        <p:nvSpPr>
          <p:cNvPr id="7" name="Text 4"/>
          <p:cNvSpPr txBox="1"/>
          <p:nvPr/>
        </p:nvSpPr>
        <p:spPr>
          <a:xfrm>
            <a:off x="1508760" y="1828800"/>
            <a:ext cx="2834640" cy="822960"/>
          </a:xfrm>
          <a:prstGeom prst="rect">
            <a:avLst/>
          </a:prstGeom>
          <a:noFill/>
          <a:ln/>
        </p:spPr>
        <p:txBody>
          <a:bodyPr wrap="square" lIns="0" tIns="0" rIns="0" bIns="0" rtlCol="0" anchor="t"/>
          <a:lstStyle/>
          <a:p>
            <a:pPr algn="l" indent="0" marL="0">
              <a:buNone/>
            </a:pPr>
            <a:r>
              <a:rPr lang="en-US" sz="1400" dirty="0">
                <a:solidFill>
                  <a:schemeClr val="tx1"/>
                </a:solidFill>
              </a:rPr>
              <a:t>Spans colored by fused risk, with storm-mode isolations in orange.</a:t>
            </a:r>
            <a:endParaRPr lang="en-US" sz="1400" dirty="0"/>
          </a:p>
        </p:txBody>
      </p:sp>
      <p:sp>
        <p:nvSpPr>
          <p:cNvPr id="8" name="Tab card 2"/>
          <p:cNvSpPr/>
          <p:nvPr/>
        </p:nvSpPr>
        <p:spPr>
          <a:xfrm>
            <a:off x="4663440" y="1280160"/>
            <a:ext cx="4023360" cy="1463040"/>
          </a:xfrm>
          <a:prstGeom prst="roundRect">
            <a:avLst>
              <a:gd name="adj" fmla="val 6250"/>
            </a:avLst>
          </a:prstGeom>
          <a:solidFill>
            <a:schemeClr val="bg2"/>
          </a:solidFill>
          <a:ln w="12700">
            <a:solidFill>
              <a:schemeClr val="bg2"/>
            </a:solidFill>
            <a:prstDash val="solid"/>
          </a:ln>
        </p:spPr>
      </p:sp>
      <p:sp>
        <p:nvSpPr>
          <p:cNvPr id="9" name="Tab 2 circle"/>
          <p:cNvSpPr/>
          <p:nvPr/>
        </p:nvSpPr>
        <p:spPr>
          <a:xfrm>
            <a:off x="4892040" y="1691640"/>
            <a:ext cx="640080" cy="640080"/>
          </a:xfrm>
          <a:prstGeom prst="ellipse">
            <a:avLst/>
          </a:prstGeom>
          <a:solidFill>
            <a:srgbClr val="1F6B4A"/>
          </a:solidFill>
          <a:ln w="12700">
            <a:solidFill>
              <a:srgbClr val="1F6B4A"/>
            </a:solidFill>
            <a:prstDash val="solid"/>
          </a:ln>
        </p:spPr>
      </p:sp>
      <p:pic>
        <p:nvPicPr>
          <p:cNvPr id="10" name="Tab 2 icon" descr="Tab 2">    </p:cNvPr>
          <p:cNvPicPr>
            <a:picLocks noChangeAspect="1"/>
          </p:cNvPicPr>
          <p:nvPr/>
        </p:nvPicPr>
        <p:blipFill>
          <a:blip r:embed="rId2"/>
          <a:stretch>
            <a:fillRect/>
          </a:stretch>
        </p:blipFill>
        <p:spPr>
          <a:xfrm>
            <a:off x="5052060" y="1851660"/>
            <a:ext cx="320040" cy="320040"/>
          </a:xfrm>
          <a:prstGeom prst="rect">
            <a:avLst/>
          </a:prstGeom>
        </p:spPr>
      </p:pic>
      <p:sp>
        <p:nvSpPr>
          <p:cNvPr id="11" name="Text 7"/>
          <p:cNvSpPr txBox="1"/>
          <p:nvPr/>
        </p:nvSpPr>
        <p:spPr>
          <a:xfrm>
            <a:off x="5715000" y="1463040"/>
            <a:ext cx="2834640" cy="365760"/>
          </a:xfrm>
          <a:prstGeom prst="rect">
            <a:avLst/>
          </a:prstGeom>
          <a:noFill/>
          <a:ln/>
        </p:spPr>
        <p:txBody>
          <a:bodyPr wrap="square" lIns="0" tIns="0" rIns="0" bIns="0" rtlCol="0" anchor="t"/>
          <a:lstStyle/>
          <a:p>
            <a:pPr algn="l" indent="0" marL="0">
              <a:buNone/>
            </a:pPr>
            <a:r>
              <a:rPr lang="en-US" sz="1600" b="1" dirty="0">
                <a:solidFill>
                  <a:schemeClr val="tx2"/>
                </a:solidFill>
              </a:rPr>
              <a:t>Risk ranking</a:t>
            </a:r>
            <a:endParaRPr lang="en-US" sz="1600" dirty="0"/>
          </a:p>
        </p:txBody>
      </p:sp>
      <p:sp>
        <p:nvSpPr>
          <p:cNvPr id="12" name="Text 8"/>
          <p:cNvSpPr txBox="1"/>
          <p:nvPr/>
        </p:nvSpPr>
        <p:spPr>
          <a:xfrm>
            <a:off x="5715000" y="1828800"/>
            <a:ext cx="2834640" cy="822960"/>
          </a:xfrm>
          <a:prstGeom prst="rect">
            <a:avLst/>
          </a:prstGeom>
          <a:noFill/>
          <a:ln/>
        </p:spPr>
        <p:txBody>
          <a:bodyPr wrap="square" lIns="0" tIns="0" rIns="0" bIns="0" rtlCol="0" anchor="t"/>
          <a:lstStyle/>
          <a:p>
            <a:pPr algn="l" indent="0" marL="0">
              <a:buNone/>
            </a:pPr>
            <a:r>
              <a:rPr lang="en-US" sz="1400" dirty="0">
                <a:solidFill>
                  <a:schemeClr val="tx1"/>
                </a:solidFill>
              </a:rPr>
              <a:t>Tabular, drone and fused scores side by side, sorted by priority.</a:t>
            </a:r>
            <a:endParaRPr lang="en-US" sz="1400" dirty="0"/>
          </a:p>
        </p:txBody>
      </p:sp>
      <p:sp>
        <p:nvSpPr>
          <p:cNvPr id="13" name="Tab card 3"/>
          <p:cNvSpPr/>
          <p:nvPr/>
        </p:nvSpPr>
        <p:spPr>
          <a:xfrm>
            <a:off x="457200" y="2926080"/>
            <a:ext cx="4023360" cy="1463040"/>
          </a:xfrm>
          <a:prstGeom prst="roundRect">
            <a:avLst>
              <a:gd name="adj" fmla="val 6250"/>
            </a:avLst>
          </a:prstGeom>
          <a:solidFill>
            <a:schemeClr val="bg2"/>
          </a:solidFill>
          <a:ln w="12700">
            <a:solidFill>
              <a:schemeClr val="bg2"/>
            </a:solidFill>
            <a:prstDash val="solid"/>
          </a:ln>
        </p:spPr>
      </p:sp>
      <p:sp>
        <p:nvSpPr>
          <p:cNvPr id="14" name="Tab 3 circle"/>
          <p:cNvSpPr/>
          <p:nvPr/>
        </p:nvSpPr>
        <p:spPr>
          <a:xfrm>
            <a:off x="685800" y="3337560"/>
            <a:ext cx="640080" cy="640080"/>
          </a:xfrm>
          <a:prstGeom prst="ellipse">
            <a:avLst/>
          </a:prstGeom>
          <a:solidFill>
            <a:srgbClr val="1F6B4A"/>
          </a:solidFill>
          <a:ln w="12700">
            <a:solidFill>
              <a:srgbClr val="1F6B4A"/>
            </a:solidFill>
            <a:prstDash val="solid"/>
          </a:ln>
        </p:spPr>
      </p:sp>
      <p:pic>
        <p:nvPicPr>
          <p:cNvPr id="15" name="Tab 3 icon" descr="Tab 3">    </p:cNvPr>
          <p:cNvPicPr>
            <a:picLocks noChangeAspect="1"/>
          </p:cNvPicPr>
          <p:nvPr/>
        </p:nvPicPr>
        <p:blipFill>
          <a:blip r:embed="rId3"/>
          <a:stretch>
            <a:fillRect/>
          </a:stretch>
        </p:blipFill>
        <p:spPr>
          <a:xfrm>
            <a:off x="845820" y="3497580"/>
            <a:ext cx="320040" cy="320040"/>
          </a:xfrm>
          <a:prstGeom prst="rect">
            <a:avLst/>
          </a:prstGeom>
        </p:spPr>
      </p:pic>
      <p:sp>
        <p:nvSpPr>
          <p:cNvPr id="16" name="Text 11"/>
          <p:cNvSpPr txBox="1"/>
          <p:nvPr/>
        </p:nvSpPr>
        <p:spPr>
          <a:xfrm>
            <a:off x="1508760" y="3108960"/>
            <a:ext cx="2834640" cy="365760"/>
          </a:xfrm>
          <a:prstGeom prst="rect">
            <a:avLst/>
          </a:prstGeom>
          <a:noFill/>
          <a:ln/>
        </p:spPr>
        <p:txBody>
          <a:bodyPr wrap="square" lIns="0" tIns="0" rIns="0" bIns="0" rtlCol="0" anchor="t"/>
          <a:lstStyle/>
          <a:p>
            <a:pPr algn="l" indent="0" marL="0">
              <a:buNone/>
            </a:pPr>
            <a:r>
              <a:rPr lang="en-US" sz="1600" b="1" dirty="0">
                <a:solidFill>
                  <a:schemeClr val="tx2"/>
                </a:solidFill>
              </a:rPr>
              <a:t>Restoration plan</a:t>
            </a:r>
            <a:endParaRPr lang="en-US" sz="1600" dirty="0"/>
          </a:p>
        </p:txBody>
      </p:sp>
      <p:sp>
        <p:nvSpPr>
          <p:cNvPr id="17" name="Text 12"/>
          <p:cNvSpPr txBox="1"/>
          <p:nvPr/>
        </p:nvSpPr>
        <p:spPr>
          <a:xfrm>
            <a:off x="1508760" y="3474720"/>
            <a:ext cx="2834640" cy="822960"/>
          </a:xfrm>
          <a:prstGeom prst="rect">
            <a:avLst/>
          </a:prstGeom>
          <a:noFill/>
          <a:ln/>
        </p:spPr>
        <p:txBody>
          <a:bodyPr wrap="square" lIns="0" tIns="0" rIns="0" bIns="0" rtlCol="0" anchor="t"/>
          <a:lstStyle/>
          <a:p>
            <a:pPr algn="l" indent="0" marL="0">
              <a:buNone/>
            </a:pPr>
            <a:r>
              <a:rPr lang="en-US" sz="1400" dirty="0">
                <a:solidFill>
                  <a:schemeClr val="tx1"/>
                </a:solidFill>
              </a:rPr>
              <a:t>Simulated isolation and backup routing for lines above 0.7 fused risk.</a:t>
            </a:r>
            <a:endParaRPr lang="en-US" sz="1400" dirty="0"/>
          </a:p>
        </p:txBody>
      </p:sp>
      <p:sp>
        <p:nvSpPr>
          <p:cNvPr id="18" name="Tab card 4"/>
          <p:cNvSpPr/>
          <p:nvPr/>
        </p:nvSpPr>
        <p:spPr>
          <a:xfrm>
            <a:off x="4663440" y="2926080"/>
            <a:ext cx="4023360" cy="1463040"/>
          </a:xfrm>
          <a:prstGeom prst="roundRect">
            <a:avLst>
              <a:gd name="adj" fmla="val 6250"/>
            </a:avLst>
          </a:prstGeom>
          <a:solidFill>
            <a:schemeClr val="bg2"/>
          </a:solidFill>
          <a:ln w="12700">
            <a:solidFill>
              <a:schemeClr val="bg2"/>
            </a:solidFill>
            <a:prstDash val="solid"/>
          </a:ln>
        </p:spPr>
      </p:sp>
      <p:sp>
        <p:nvSpPr>
          <p:cNvPr id="19" name="Tab 4 circle"/>
          <p:cNvSpPr/>
          <p:nvPr/>
        </p:nvSpPr>
        <p:spPr>
          <a:xfrm>
            <a:off x="4892040" y="3337560"/>
            <a:ext cx="640080" cy="640080"/>
          </a:xfrm>
          <a:prstGeom prst="ellipse">
            <a:avLst/>
          </a:prstGeom>
          <a:solidFill>
            <a:srgbClr val="F2B705"/>
          </a:solidFill>
          <a:ln w="12700">
            <a:solidFill>
              <a:srgbClr val="F2B705"/>
            </a:solidFill>
            <a:prstDash val="solid"/>
          </a:ln>
        </p:spPr>
      </p:sp>
      <p:pic>
        <p:nvPicPr>
          <p:cNvPr id="20" name="Tab 4 icon" descr="Tab 4">    </p:cNvPr>
          <p:cNvPicPr>
            <a:picLocks noChangeAspect="1"/>
          </p:cNvPicPr>
          <p:nvPr/>
        </p:nvPicPr>
        <p:blipFill>
          <a:blip r:embed="rId4"/>
          <a:stretch>
            <a:fillRect/>
          </a:stretch>
        </p:blipFill>
        <p:spPr>
          <a:xfrm>
            <a:off x="5052060" y="3497580"/>
            <a:ext cx="320040" cy="320040"/>
          </a:xfrm>
          <a:prstGeom prst="rect">
            <a:avLst/>
          </a:prstGeom>
        </p:spPr>
      </p:pic>
      <p:sp>
        <p:nvSpPr>
          <p:cNvPr id="21" name="Text 15"/>
          <p:cNvSpPr txBox="1"/>
          <p:nvPr/>
        </p:nvSpPr>
        <p:spPr>
          <a:xfrm>
            <a:off x="5715000" y="3108960"/>
            <a:ext cx="2834640" cy="365760"/>
          </a:xfrm>
          <a:prstGeom prst="rect">
            <a:avLst/>
          </a:prstGeom>
          <a:noFill/>
          <a:ln/>
        </p:spPr>
        <p:txBody>
          <a:bodyPr wrap="square" lIns="0" tIns="0" rIns="0" bIns="0" rtlCol="0" anchor="t"/>
          <a:lstStyle/>
          <a:p>
            <a:pPr algn="l" indent="0" marL="0">
              <a:buNone/>
            </a:pPr>
            <a:r>
              <a:rPr lang="en-US" sz="1600" b="1" dirty="0">
                <a:solidFill>
                  <a:schemeClr val="tx2"/>
                </a:solidFill>
              </a:rPr>
              <a:t>Drone image analysis</a:t>
            </a:r>
            <a:endParaRPr lang="en-US" sz="1600" dirty="0"/>
          </a:p>
        </p:txBody>
      </p:sp>
      <p:sp>
        <p:nvSpPr>
          <p:cNvPr id="22" name="Text 16"/>
          <p:cNvSpPr txBox="1"/>
          <p:nvPr/>
        </p:nvSpPr>
        <p:spPr>
          <a:xfrm>
            <a:off x="5715000" y="3474720"/>
            <a:ext cx="2834640" cy="822960"/>
          </a:xfrm>
          <a:prstGeom prst="rect">
            <a:avLst/>
          </a:prstGeom>
          <a:noFill/>
          <a:ln/>
        </p:spPr>
        <p:txBody>
          <a:bodyPr wrap="square" lIns="0" tIns="0" rIns="0" bIns="0" rtlCol="0" anchor="t"/>
          <a:lstStyle/>
          <a:p>
            <a:pPr algn="l" indent="0" marL="0">
              <a:buNone/>
            </a:pPr>
            <a:r>
              <a:rPr lang="en-US" sz="1400" dirty="0">
                <a:solidFill>
                  <a:schemeClr val="tx1"/>
                </a:solidFill>
              </a:rPr>
              <a:t>Upload images, see class probabilities, and review the model comparison.</a:t>
            </a:r>
            <a:endParaRPr lang="en-US" sz="1400" dirty="0"/>
          </a:p>
        </p:txBody>
      </p:sp>
      <p:sp>
        <p:nvSpPr>
          <p:cNvPr id="23" name="Text 17"/>
          <p:cNvSpPr txBox="1"/>
          <p:nvPr/>
        </p:nvSpPr>
        <p:spPr>
          <a:xfrm>
            <a:off x="457200" y="4572000"/>
            <a:ext cx="7680960" cy="274320"/>
          </a:xfrm>
          <a:prstGeom prst="rect">
            <a:avLst/>
          </a:prstGeom>
          <a:noFill/>
          <a:ln/>
        </p:spPr>
        <p:txBody>
          <a:bodyPr wrap="square" lIns="0" tIns="0" rIns="0" bIns="0" rtlCol="0" anchor="t"/>
          <a:lstStyle/>
          <a:p>
            <a:pPr algn="l" indent="0" marL="0">
              <a:buNone/>
            </a:pPr>
            <a:r>
              <a:rPr lang="en-US" sz="1100" dirty="0">
                <a:solidFill>
                  <a:schemeClr val="accent6"/>
                </a:solidFill>
              </a:rPr>
              <a:t>Sidebar: storm mode, alert threshold, drone-weight slider, image upload and demo samples.</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Where it stands, what's next</a:t>
            </a:r>
            <a:endParaRPr lang="en-US" sz="3400" dirty="0"/>
          </a:p>
        </p:txBody>
      </p:sp>
      <p:sp>
        <p:nvSpPr>
          <p:cNvPr id="3" name="Status card 1"/>
          <p:cNvSpPr/>
          <p:nvPr/>
        </p:nvSpPr>
        <p:spPr>
          <a:xfrm>
            <a:off x="457200" y="1280160"/>
            <a:ext cx="2560320" cy="3200400"/>
          </a:xfrm>
          <a:prstGeom prst="roundRect">
            <a:avLst>
              <a:gd name="adj" fmla="val 4286"/>
            </a:avLst>
          </a:prstGeom>
          <a:solidFill>
            <a:srgbClr val="1F6B4A"/>
          </a:solidFill>
          <a:ln w="12700">
            <a:solidFill>
              <a:srgbClr val="1F6B4A"/>
            </a:solidFill>
            <a:prstDash val="solid"/>
          </a:ln>
        </p:spPr>
      </p:sp>
      <p:sp>
        <p:nvSpPr>
          <p:cNvPr id="4" name="Status 1 circle"/>
          <p:cNvSpPr/>
          <p:nvPr/>
        </p:nvSpPr>
        <p:spPr>
          <a:xfrm>
            <a:off x="685800" y="1463040"/>
            <a:ext cx="502920" cy="502920"/>
          </a:xfrm>
          <a:prstGeom prst="ellipse">
            <a:avLst/>
          </a:prstGeom>
          <a:solidFill>
            <a:srgbClr val="F2B705"/>
          </a:solidFill>
          <a:ln w="12700">
            <a:solidFill>
              <a:srgbClr val="F2B705"/>
            </a:solidFill>
            <a:prstDash val="solid"/>
          </a:ln>
        </p:spPr>
      </p:sp>
      <p:pic>
        <p:nvPicPr>
          <p:cNvPr id="5" name="Status 1 icon" descr="Status 1">    </p:cNvPr>
          <p:cNvPicPr>
            <a:picLocks noChangeAspect="1"/>
          </p:cNvPicPr>
          <p:nvPr/>
        </p:nvPicPr>
        <p:blipFill>
          <a:blip r:embed="rId1"/>
          <a:stretch>
            <a:fillRect/>
          </a:stretch>
        </p:blipFill>
        <p:spPr>
          <a:xfrm>
            <a:off x="811530" y="1588770"/>
            <a:ext cx="251460" cy="251460"/>
          </a:xfrm>
          <a:prstGeom prst="rect">
            <a:avLst/>
          </a:prstGeom>
        </p:spPr>
      </p:pic>
      <p:sp>
        <p:nvSpPr>
          <p:cNvPr id="6" name="Text 3"/>
          <p:cNvSpPr txBox="1"/>
          <p:nvPr/>
        </p:nvSpPr>
        <p:spPr>
          <a:xfrm>
            <a:off x="1325880" y="1463040"/>
            <a:ext cx="1554480" cy="502920"/>
          </a:xfrm>
          <a:prstGeom prst="rect">
            <a:avLst/>
          </a:prstGeom>
          <a:noFill/>
          <a:ln/>
        </p:spPr>
        <p:txBody>
          <a:bodyPr wrap="square" lIns="0" tIns="0" rIns="0" bIns="0" rtlCol="0" anchor="ctr"/>
          <a:lstStyle/>
          <a:p>
            <a:pPr algn="l" indent="0" marL="0">
              <a:buNone/>
            </a:pPr>
            <a:r>
              <a:rPr lang="en-US" sz="1800" b="1" dirty="0">
                <a:solidFill>
                  <a:schemeClr val="bg1"/>
                </a:solidFill>
              </a:rPr>
              <a:t>Verified</a:t>
            </a:r>
            <a:endParaRPr lang="en-US" sz="1800" dirty="0"/>
          </a:p>
        </p:txBody>
      </p:sp>
      <p:sp>
        <p:nvSpPr>
          <p:cNvPr id="7" name="Text 4"/>
          <p:cNvSpPr txBox="1"/>
          <p:nvPr/>
        </p:nvSpPr>
        <p:spPr>
          <a:xfrm>
            <a:off x="685800" y="2194560"/>
            <a:ext cx="2148840" cy="219456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bg1"/>
                </a:solidFill>
              </a:rPr>
              <a:t>Training, model comparison and saving ran end to end</a:t>
            </a:r>
            <a:endParaRPr lang="en-US" sz="1400" dirty="0"/>
          </a:p>
          <a:p>
            <a:pPr algn="l" marL="342900" indent="-342900">
              <a:spcAft>
                <a:spcPts val="600"/>
              </a:spcAft>
              <a:buSzPct val="100000"/>
              <a:buChar char="•"/>
            </a:pPr>
            <a:r>
              <a:rPr lang="en-US" sz="1400" dirty="0">
                <a:solidFill>
                  <a:schemeClr val="bg1"/>
                </a:solidFill>
              </a:rPr>
              <a:t>Fusion logic checked on 9 demo lines</a:t>
            </a:r>
            <a:endParaRPr lang="en-US" sz="1400" dirty="0"/>
          </a:p>
          <a:p>
            <a:pPr algn="l" marL="342900" indent="-342900">
              <a:spcAft>
                <a:spcPts val="600"/>
              </a:spcAft>
              <a:buSzPct val="100000"/>
              <a:buChar char="•"/>
            </a:pPr>
            <a:r>
              <a:rPr lang="en-US" sz="1400" dirty="0">
                <a:solidFill>
                  <a:schemeClr val="bg1"/>
                </a:solidFill>
              </a:rPr>
              <a:t>0.978 macro-F1 on a synthetic held-out set</a:t>
            </a:r>
            <a:endParaRPr lang="en-US" sz="1400" dirty="0"/>
          </a:p>
        </p:txBody>
      </p:sp>
      <p:sp>
        <p:nvSpPr>
          <p:cNvPr id="8" name="Status card 2"/>
          <p:cNvSpPr/>
          <p:nvPr/>
        </p:nvSpPr>
        <p:spPr>
          <a:xfrm>
            <a:off x="3291840" y="1280160"/>
            <a:ext cx="2560320" cy="3200400"/>
          </a:xfrm>
          <a:prstGeom prst="roundRect">
            <a:avLst>
              <a:gd name="adj" fmla="val 4286"/>
            </a:avLst>
          </a:prstGeom>
          <a:solidFill>
            <a:srgbClr val="1F6B4A"/>
          </a:solidFill>
          <a:ln w="12700">
            <a:solidFill>
              <a:srgbClr val="1F6B4A"/>
            </a:solidFill>
            <a:prstDash val="solid"/>
          </a:ln>
        </p:spPr>
      </p:sp>
      <p:sp>
        <p:nvSpPr>
          <p:cNvPr id="9" name="Status 2 circle"/>
          <p:cNvSpPr/>
          <p:nvPr/>
        </p:nvSpPr>
        <p:spPr>
          <a:xfrm>
            <a:off x="3520440" y="1463040"/>
            <a:ext cx="502920" cy="502920"/>
          </a:xfrm>
          <a:prstGeom prst="ellipse">
            <a:avLst/>
          </a:prstGeom>
          <a:solidFill>
            <a:srgbClr val="F2B705"/>
          </a:solidFill>
          <a:ln w="12700">
            <a:solidFill>
              <a:srgbClr val="F2B705"/>
            </a:solidFill>
            <a:prstDash val="solid"/>
          </a:ln>
        </p:spPr>
      </p:sp>
      <p:pic>
        <p:nvPicPr>
          <p:cNvPr id="10" name="Status 2 icon" descr="Status 2">    </p:cNvPr>
          <p:cNvPicPr>
            <a:picLocks noChangeAspect="1"/>
          </p:cNvPicPr>
          <p:nvPr/>
        </p:nvPicPr>
        <p:blipFill>
          <a:blip r:embed="rId2"/>
          <a:stretch>
            <a:fillRect/>
          </a:stretch>
        </p:blipFill>
        <p:spPr>
          <a:xfrm>
            <a:off x="3646170" y="1588770"/>
            <a:ext cx="251460" cy="251460"/>
          </a:xfrm>
          <a:prstGeom prst="rect">
            <a:avLst/>
          </a:prstGeom>
        </p:spPr>
      </p:pic>
      <p:sp>
        <p:nvSpPr>
          <p:cNvPr id="11" name="Text 7"/>
          <p:cNvSpPr txBox="1"/>
          <p:nvPr/>
        </p:nvSpPr>
        <p:spPr>
          <a:xfrm>
            <a:off x="4160520" y="1463040"/>
            <a:ext cx="1554480" cy="502920"/>
          </a:xfrm>
          <a:prstGeom prst="rect">
            <a:avLst/>
          </a:prstGeom>
          <a:noFill/>
          <a:ln/>
        </p:spPr>
        <p:txBody>
          <a:bodyPr wrap="square" lIns="0" tIns="0" rIns="0" bIns="0" rtlCol="0" anchor="ctr"/>
          <a:lstStyle/>
          <a:p>
            <a:pPr algn="l" indent="0" marL="0">
              <a:buNone/>
            </a:pPr>
            <a:r>
              <a:rPr lang="en-US" sz="1800" b="1" dirty="0">
                <a:solidFill>
                  <a:schemeClr val="bg1"/>
                </a:solidFill>
              </a:rPr>
              <a:t>Not yet verified</a:t>
            </a:r>
            <a:endParaRPr lang="en-US" sz="1800" dirty="0"/>
          </a:p>
        </p:txBody>
      </p:sp>
      <p:sp>
        <p:nvSpPr>
          <p:cNvPr id="12" name="Text 8"/>
          <p:cNvSpPr txBox="1"/>
          <p:nvPr/>
        </p:nvSpPr>
        <p:spPr>
          <a:xfrm>
            <a:off x="3520440" y="2194560"/>
            <a:ext cx="2148840" cy="219456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bg1"/>
                </a:solidFill>
              </a:rPr>
              <a:t>Streamlit UI run only against a stub</a:t>
            </a:r>
            <a:endParaRPr lang="en-US" sz="1400" dirty="0"/>
          </a:p>
          <a:p>
            <a:pPr algn="l" marL="342900" indent="-342900">
              <a:spcAft>
                <a:spcPts val="600"/>
              </a:spcAft>
              <a:buSzPct val="100000"/>
              <a:buChar char="•"/>
            </a:pPr>
            <a:r>
              <a:rPr lang="en-US" sz="1400" dirty="0">
                <a:solidFill>
                  <a:schemeClr val="bg1"/>
                </a:solidFill>
              </a:rPr>
              <a:t>CNN training untested (no PyTorch here)</a:t>
            </a:r>
            <a:endParaRPr lang="en-US" sz="1400" dirty="0"/>
          </a:p>
          <a:p>
            <a:pPr algn="l" marL="342900" indent="-342900">
              <a:spcAft>
                <a:spcPts val="600"/>
              </a:spcAft>
              <a:buSzPct val="100000"/>
              <a:buChar char="•"/>
            </a:pPr>
            <a:r>
              <a:rPr lang="en-US" sz="1400" dirty="0">
                <a:solidFill>
                  <a:schemeClr val="bg1"/>
                </a:solidFill>
              </a:rPr>
              <a:t>No real drone imagery tried</a:t>
            </a:r>
            <a:endParaRPr lang="en-US" sz="1400" dirty="0"/>
          </a:p>
        </p:txBody>
      </p:sp>
      <p:sp>
        <p:nvSpPr>
          <p:cNvPr id="13" name="Status card 3"/>
          <p:cNvSpPr/>
          <p:nvPr/>
        </p:nvSpPr>
        <p:spPr>
          <a:xfrm>
            <a:off x="6126480" y="1280160"/>
            <a:ext cx="2560320" cy="3200400"/>
          </a:xfrm>
          <a:prstGeom prst="roundRect">
            <a:avLst>
              <a:gd name="adj" fmla="val 4286"/>
            </a:avLst>
          </a:prstGeom>
          <a:solidFill>
            <a:srgbClr val="1F6B4A"/>
          </a:solidFill>
          <a:ln w="12700">
            <a:solidFill>
              <a:srgbClr val="1F6B4A"/>
            </a:solidFill>
            <a:prstDash val="solid"/>
          </a:ln>
        </p:spPr>
      </p:sp>
      <p:sp>
        <p:nvSpPr>
          <p:cNvPr id="14" name="Status 3 circle"/>
          <p:cNvSpPr/>
          <p:nvPr/>
        </p:nvSpPr>
        <p:spPr>
          <a:xfrm>
            <a:off x="6355080" y="1463040"/>
            <a:ext cx="502920" cy="502920"/>
          </a:xfrm>
          <a:prstGeom prst="ellipse">
            <a:avLst/>
          </a:prstGeom>
          <a:solidFill>
            <a:srgbClr val="F2B705"/>
          </a:solidFill>
          <a:ln w="12700">
            <a:solidFill>
              <a:srgbClr val="F2B705"/>
            </a:solidFill>
            <a:prstDash val="solid"/>
          </a:ln>
        </p:spPr>
      </p:sp>
      <p:pic>
        <p:nvPicPr>
          <p:cNvPr id="15" name="Status 3 icon" descr="Status 3">    </p:cNvPr>
          <p:cNvPicPr>
            <a:picLocks noChangeAspect="1"/>
          </p:cNvPicPr>
          <p:nvPr/>
        </p:nvPicPr>
        <p:blipFill>
          <a:blip r:embed="rId3"/>
          <a:stretch>
            <a:fillRect/>
          </a:stretch>
        </p:blipFill>
        <p:spPr>
          <a:xfrm>
            <a:off x="6480810" y="1588770"/>
            <a:ext cx="251460" cy="251460"/>
          </a:xfrm>
          <a:prstGeom prst="rect">
            <a:avLst/>
          </a:prstGeom>
        </p:spPr>
      </p:pic>
      <p:sp>
        <p:nvSpPr>
          <p:cNvPr id="16" name="Text 11"/>
          <p:cNvSpPr txBox="1"/>
          <p:nvPr/>
        </p:nvSpPr>
        <p:spPr>
          <a:xfrm>
            <a:off x="6995160" y="1463040"/>
            <a:ext cx="1554480" cy="502920"/>
          </a:xfrm>
          <a:prstGeom prst="rect">
            <a:avLst/>
          </a:prstGeom>
          <a:noFill/>
          <a:ln/>
        </p:spPr>
        <p:txBody>
          <a:bodyPr wrap="square" lIns="0" tIns="0" rIns="0" bIns="0" rtlCol="0" anchor="ctr"/>
          <a:lstStyle/>
          <a:p>
            <a:pPr algn="l" indent="0" marL="0">
              <a:buNone/>
            </a:pPr>
            <a:r>
              <a:rPr lang="en-US" sz="1800" b="1" dirty="0">
                <a:solidFill>
                  <a:schemeClr val="bg1"/>
                </a:solidFill>
              </a:rPr>
              <a:t>Next steps</a:t>
            </a:r>
            <a:endParaRPr lang="en-US" sz="1800" dirty="0"/>
          </a:p>
        </p:txBody>
      </p:sp>
      <p:sp>
        <p:nvSpPr>
          <p:cNvPr id="17" name="Text 12"/>
          <p:cNvSpPr txBox="1"/>
          <p:nvPr/>
        </p:nvSpPr>
        <p:spPr>
          <a:xfrm>
            <a:off x="6355080" y="2194560"/>
            <a:ext cx="2148840" cy="219456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bg1"/>
                </a:solidFill>
              </a:rPr>
              <a:t>Train on real labelled tiles with --cnn</a:t>
            </a:r>
            <a:endParaRPr lang="en-US" sz="1400" dirty="0"/>
          </a:p>
          <a:p>
            <a:pPr algn="l" marL="342900" indent="-342900">
              <a:spcAft>
                <a:spcPts val="600"/>
              </a:spcAft>
              <a:buSzPct val="100000"/>
              <a:buChar char="•"/>
            </a:pPr>
            <a:r>
              <a:rPr lang="en-US" sz="1400" dirty="0">
                <a:solidFill>
                  <a:schemeClr val="bg1"/>
                </a:solidFill>
              </a:rPr>
              <a:t>Crop and rotate imagery so the line runs left to right</a:t>
            </a:r>
            <a:endParaRPr lang="en-US" sz="1400" dirty="0"/>
          </a:p>
          <a:p>
            <a:pPr algn="l" marL="342900" indent="-342900">
              <a:spcAft>
                <a:spcPts val="600"/>
              </a:spcAft>
              <a:buSzPct val="100000"/>
              <a:buChar char="•"/>
            </a:pPr>
            <a:r>
              <a:rPr lang="en-US" sz="1400" dirty="0">
                <a:solidFill>
                  <a:schemeClr val="bg1"/>
                </a:solidFill>
              </a:rPr>
              <a:t>Replace rule-based tabular labels with real trim records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GridAI Forest">
  <a:themeElements>
    <a:clrScheme name="GridAI Forest">
      <a:dk1>
        <a:srgbClr val="16241C"/>
      </a:dk1>
      <a:lt1>
        <a:srgbClr val="FFFFFF"/>
      </a:lt1>
      <a:dk2>
        <a:srgbClr val="12372A"/>
      </a:dk2>
      <a:lt2>
        <a:srgbClr val="EEF3EC"/>
      </a:lt2>
      <a:accent1>
        <a:srgbClr val="1F6B4A"/>
      </a:accent1>
      <a:accent2>
        <a:srgbClr val="F2B705"/>
      </a:accent2>
      <a:accent3>
        <a:srgbClr val="7FB069"/>
      </a:accent3>
      <a:accent4>
        <a:srgbClr val="C8553D"/>
      </a:accent4>
      <a:accent5>
        <a:srgbClr val="3E7CB1"/>
      </a:accent5>
      <a:accent6>
        <a:srgbClr val="5B6B61"/>
      </a:accent6>
      <a:hlink>
        <a:srgbClr val="1F6B4A"/>
      </a:hlink>
      <a:folHlink>
        <a:srgbClr val="5B6B61"/>
      </a:folHlink>
    </a:clrScheme>
    <a:fontScheme name="GridAI For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GridAI: Drone-enhanced vegetation risk</dc:title>
  <dc:subject>PptxGenJS Presentation</dc:subject>
  <dc:creator>GridAI project</dc:creator>
  <cp:lastModifiedBy>GridAI project</cp:lastModifiedBy>
  <cp:revision>1</cp:revision>
  <dcterms:created xsi:type="dcterms:W3CDTF">2026-10-22T02:33:58Z</dcterms:created>
  <dcterms:modified xsi:type="dcterms:W3CDTF">2026-10-22T02:33:58Z</dcterms:modified>
</cp:coreProperties>
</file>